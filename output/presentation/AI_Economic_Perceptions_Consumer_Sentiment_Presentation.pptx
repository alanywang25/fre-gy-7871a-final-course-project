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ptos"/>
        <a:ea typeface="Aptos"/>
        <a:cs typeface="Aptos"/>
        <a:sym typeface="Aptos"/>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ptos"/>
        <a:ea typeface="Aptos"/>
        <a:cs typeface="Aptos"/>
        <a:sym typeface="Aptos"/>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ptos"/>
        <a:ea typeface="Aptos"/>
        <a:cs typeface="Aptos"/>
        <a:sym typeface="Aptos"/>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ptos"/>
        <a:ea typeface="Aptos"/>
        <a:cs typeface="Aptos"/>
        <a:sym typeface="Aptos"/>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ptos"/>
        <a:ea typeface="Aptos"/>
        <a:cs typeface="Aptos"/>
        <a:sym typeface="Aptos"/>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ptos"/>
        <a:ea typeface="Aptos"/>
        <a:cs typeface="Aptos"/>
        <a:sym typeface="Aptos"/>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ptos"/>
        <a:ea typeface="Aptos"/>
        <a:cs typeface="Aptos"/>
        <a:sym typeface="Aptos"/>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ptos"/>
        <a:ea typeface="Aptos"/>
        <a:cs typeface="Aptos"/>
        <a:sym typeface="Aptos"/>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ptos"/>
        <a:ea typeface="Aptos"/>
        <a:cs typeface="Aptos"/>
        <a:sym typeface="Apto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a:tcStyle>
        <a:tcBdr/>
        <a:fill>
          <a:solidFill>
            <a:srgbClr val="E7E9EC"/>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a:tcStyle>
        <a:tcBdr/>
        <a:fill>
          <a:solidFill>
            <a:srgbClr val="E7EAE7"/>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a:tcStyle>
        <a:tcBdr/>
        <a:fill>
          <a:solidFill>
            <a:srgbClr val="E8F0E7"/>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Aptos"/>
          <a:ea typeface="Aptos"/>
          <a:cs typeface="Aptos"/>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Aptos"/>
          <a:ea typeface="Aptos"/>
          <a:cs typeface="Aptos"/>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ptos"/>
          <a:ea typeface="Aptos"/>
          <a:cs typeface="Aptos"/>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ptos"/>
          <a:ea typeface="Aptos"/>
          <a:cs typeface="Aptos"/>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p:cViewPr varScale="1">
        <p:scale>
          <a:sx n="119" d="100"/>
          <a:sy n="119" d="100"/>
        </p:scale>
        <p:origin x="856" y="184"/>
      </p:cViewPr>
      <p:guideLst/>
    </p:cSldViewPr>
  </p:slideViewPr>
  <p:notesTextViewPr>
    <p:cViewPr>
      <p:scale>
        <a:sx n="1" d="1"/>
        <a:sy n="1" d="1"/>
      </p:scale>
      <p:origin x="0" y="-9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6.9112599999999996E-2"/>
          <c:y val="5.2689399999999997E-2"/>
          <c:w val="0.92588700000000002"/>
          <c:h val="0.86675400000000002"/>
        </c:manualLayout>
      </c:layout>
      <c:barChart>
        <c:barDir val="col"/>
        <c:grouping val="clustered"/>
        <c:varyColors val="0"/>
        <c:ser>
          <c:idx val="0"/>
          <c:order val="0"/>
          <c:tx>
            <c:strRef>
              <c:f>Sheet1!$B$1</c:f>
              <c:strCache>
                <c:ptCount val="1"/>
                <c:pt idx="0">
                  <c:v>MAE</c:v>
                </c:pt>
              </c:strCache>
            </c:strRef>
          </c:tx>
          <c:spPr>
            <a:solidFill>
              <a:srgbClr val="2F75B5"/>
            </a:solidFill>
            <a:ln w="12700" cap="flat">
              <a:noFill/>
              <a:miter lim="400000"/>
            </a:ln>
            <a:effectLst/>
          </c:spPr>
          <c:invertIfNegative val="0"/>
          <c:dLbls>
            <c:numFmt formatCode="0.###" sourceLinked="0"/>
            <c:spPr>
              <a:noFill/>
              <a:ln>
                <a:noFill/>
              </a:ln>
              <a:effectLst/>
            </c:spPr>
            <c:txPr>
              <a:bodyPr/>
              <a:lstStyle/>
              <a:p>
                <a:pPr>
                  <a:defRPr sz="1000" b="0" i="0" u="none" strike="noStrike">
                    <a:solidFill>
                      <a:srgbClr val="000000"/>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Economic only</c:v>
                </c:pt>
                <c:pt idx="1">
                  <c:v>Household-stress proxy</c:v>
                </c:pt>
                <c:pt idx="2">
                  <c:v>Expanded controls</c:v>
                </c:pt>
              </c:strCache>
            </c:strRef>
          </c:cat>
          <c:val>
            <c:numRef>
              <c:f>Sheet1!$B$2:$B$4</c:f>
              <c:numCache>
                <c:formatCode>General</c:formatCode>
                <c:ptCount val="3"/>
                <c:pt idx="0">
                  <c:v>12.579000000000001</c:v>
                </c:pt>
                <c:pt idx="1">
                  <c:v>8.1780000000000008</c:v>
                </c:pt>
                <c:pt idx="2">
                  <c:v>4.4669999999999996</c:v>
                </c:pt>
              </c:numCache>
            </c:numRef>
          </c:val>
          <c:extLst>
            <c:ext xmlns:c16="http://schemas.microsoft.com/office/drawing/2014/chart" uri="{C3380CC4-5D6E-409C-BE32-E72D297353CC}">
              <c16:uniqueId val="{00000000-FE93-DD40-9902-15D075671A46}"/>
            </c:ext>
          </c:extLst>
        </c:ser>
        <c:dLbls>
          <c:showLegendKey val="0"/>
          <c:showVal val="0"/>
          <c:showCatName val="0"/>
          <c:showSerName val="0"/>
          <c:showPercent val="0"/>
          <c:showBubbleSize val="0"/>
        </c:dLbls>
        <c:gapWidth val="150"/>
        <c:axId val="2094734552"/>
        <c:axId val="2094734553"/>
      </c:barChart>
      <c:catAx>
        <c:axId val="2094734552"/>
        <c:scaling>
          <c:orientation val="minMax"/>
        </c:scaling>
        <c:delete val="0"/>
        <c:axPos val="b"/>
        <c:majorGridlines>
          <c:spPr>
            <a:ln w="12700" cap="flat">
              <a:solidFill>
                <a:srgbClr val="D9E2F3"/>
              </a:solidFill>
              <a:prstDash val="solid"/>
              <a:round/>
            </a:ln>
          </c:spPr>
        </c:majorGridlines>
        <c:numFmt formatCode="General" sourceLinked="0"/>
        <c:majorTickMark val="none"/>
        <c:minorTickMark val="none"/>
        <c:tickLblPos val="low"/>
        <c:spPr>
          <a:ln w="12700" cap="flat">
            <a:solidFill>
              <a:srgbClr val="D4D4D4"/>
            </a:solidFill>
            <a:prstDash val="solid"/>
            <a:round/>
          </a:ln>
        </c:spPr>
        <c:txPr>
          <a:bodyPr rot="0"/>
          <a:lstStyle/>
          <a:p>
            <a:pPr>
              <a:defRPr sz="1000" b="0" i="0" u="none" strike="noStrike">
                <a:solidFill>
                  <a:srgbClr val="666666"/>
                </a:solidFill>
                <a:latin typeface="Aptos"/>
              </a:defRPr>
            </a:pPr>
            <a:endParaRPr lang="en-US"/>
          </a:p>
        </c:txPr>
        <c:crossAx val="2094734553"/>
        <c:crosses val="autoZero"/>
        <c:auto val="1"/>
        <c:lblAlgn val="ctr"/>
        <c:lblOffset val="100"/>
        <c:noMultiLvlLbl val="1"/>
      </c:catAx>
      <c:valAx>
        <c:axId val="2094734553"/>
        <c:scaling>
          <c:orientation val="minMax"/>
        </c:scaling>
        <c:delete val="0"/>
        <c:axPos val="l"/>
        <c:majorGridlines>
          <c:spPr>
            <a:ln w="12700" cap="flat">
              <a:solidFill>
                <a:srgbClr val="D9E2F3"/>
              </a:solidFill>
              <a:prstDash val="solid"/>
              <a:round/>
            </a:ln>
          </c:spPr>
        </c:majorGridlines>
        <c:numFmt formatCode="0.###" sourceLinked="0"/>
        <c:majorTickMark val="none"/>
        <c:minorTickMark val="none"/>
        <c:tickLblPos val="nextTo"/>
        <c:spPr>
          <a:ln w="12700" cap="flat">
            <a:solidFill>
              <a:srgbClr val="D4D4D4"/>
            </a:solidFill>
            <a:prstDash val="solid"/>
            <a:round/>
          </a:ln>
        </c:spPr>
        <c:txPr>
          <a:bodyPr rot="0"/>
          <a:lstStyle/>
          <a:p>
            <a:pPr>
              <a:defRPr sz="1000" b="0" i="0" u="none" strike="noStrike">
                <a:solidFill>
                  <a:srgbClr val="666666"/>
                </a:solidFill>
                <a:latin typeface="Aptos"/>
              </a:defRPr>
            </a:pPr>
            <a:endParaRPr lang="en-US"/>
          </a:p>
        </c:txPr>
        <c:crossAx val="2094734552"/>
        <c:crosses val="autoZero"/>
        <c:crossBetween val="between"/>
        <c:majorUnit val="3.25"/>
        <c:minorUnit val="1.625"/>
      </c:valAx>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6.3974900000000001E-2"/>
          <c:y val="5.3571399999999998E-2"/>
          <c:w val="0.93102499999999999"/>
          <c:h val="0.86473199999999995"/>
        </c:manualLayout>
      </c:layout>
      <c:barChart>
        <c:barDir val="col"/>
        <c:grouping val="clustered"/>
        <c:varyColors val="0"/>
        <c:ser>
          <c:idx val="0"/>
          <c:order val="0"/>
          <c:tx>
            <c:strRef>
              <c:f>Sheet1!$B$1</c:f>
              <c:strCache>
                <c:ptCount val="1"/>
                <c:pt idx="0">
                  <c:v>Association</c:v>
                </c:pt>
              </c:strCache>
            </c:strRef>
          </c:tx>
          <c:spPr>
            <a:solidFill>
              <a:srgbClr val="C0504D"/>
            </a:solidFill>
            <a:ln w="12700" cap="flat">
              <a:noFill/>
              <a:miter lim="400000"/>
            </a:ln>
            <a:effectLst/>
          </c:spPr>
          <c:invertIfNegative val="0"/>
          <c:dLbls>
            <c:numFmt formatCode="0.##" sourceLinked="0"/>
            <c:spPr>
              <a:noFill/>
              <a:ln>
                <a:noFill/>
              </a:ln>
              <a:effectLst/>
            </c:spPr>
            <c:txPr>
              <a:bodyPr/>
              <a:lstStyle/>
              <a:p>
                <a:pPr>
                  <a:defRPr sz="1000" b="0" i="0" u="none" strike="noStrike">
                    <a:solidFill>
                      <a:srgbClr val="000000"/>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Headline sentiment</c:v>
                </c:pt>
                <c:pt idx="1">
                  <c:v>Current conditions</c:v>
                </c:pt>
                <c:pt idx="2">
                  <c:v>Expectations</c:v>
                </c:pt>
              </c:strCache>
            </c:strRef>
          </c:cat>
          <c:val>
            <c:numRef>
              <c:f>Sheet1!$B$2:$B$4</c:f>
              <c:numCache>
                <c:formatCode>General</c:formatCode>
                <c:ptCount val="3"/>
                <c:pt idx="0">
                  <c:v>-8.09</c:v>
                </c:pt>
                <c:pt idx="1">
                  <c:v>-8.44</c:v>
                </c:pt>
                <c:pt idx="2">
                  <c:v>-7.31</c:v>
                </c:pt>
              </c:numCache>
            </c:numRef>
          </c:val>
          <c:extLst>
            <c:ext xmlns:c16="http://schemas.microsoft.com/office/drawing/2014/chart" uri="{C3380CC4-5D6E-409C-BE32-E72D297353CC}">
              <c16:uniqueId val="{00000000-EF73-C84E-8504-A0125B04AB2D}"/>
            </c:ext>
          </c:extLst>
        </c:ser>
        <c:dLbls>
          <c:showLegendKey val="0"/>
          <c:showVal val="0"/>
          <c:showCatName val="0"/>
          <c:showSerName val="0"/>
          <c:showPercent val="0"/>
          <c:showBubbleSize val="0"/>
        </c:dLbls>
        <c:gapWidth val="150"/>
        <c:axId val="2094734552"/>
        <c:axId val="2094734553"/>
      </c:barChart>
      <c:catAx>
        <c:axId val="2094734552"/>
        <c:scaling>
          <c:orientation val="minMax"/>
        </c:scaling>
        <c:delete val="0"/>
        <c:axPos val="b"/>
        <c:majorGridlines>
          <c:spPr>
            <a:ln w="12700" cap="flat">
              <a:solidFill>
                <a:srgbClr val="D9E2F3"/>
              </a:solidFill>
              <a:prstDash val="solid"/>
              <a:round/>
            </a:ln>
          </c:spPr>
        </c:majorGridlines>
        <c:numFmt formatCode="General" sourceLinked="0"/>
        <c:majorTickMark val="none"/>
        <c:minorTickMark val="none"/>
        <c:tickLblPos val="low"/>
        <c:spPr>
          <a:ln w="12700" cap="flat">
            <a:solidFill>
              <a:srgbClr val="D4D4D4"/>
            </a:solidFill>
            <a:prstDash val="solid"/>
            <a:round/>
          </a:ln>
        </c:spPr>
        <c:txPr>
          <a:bodyPr rot="0"/>
          <a:lstStyle/>
          <a:p>
            <a:pPr>
              <a:defRPr sz="1000" b="0" i="0" u="none" strike="noStrike">
                <a:solidFill>
                  <a:srgbClr val="666666"/>
                </a:solidFill>
                <a:latin typeface="Aptos"/>
              </a:defRPr>
            </a:pPr>
            <a:endParaRPr lang="en-US"/>
          </a:p>
        </c:txPr>
        <c:crossAx val="2094734553"/>
        <c:crosses val="autoZero"/>
        <c:auto val="1"/>
        <c:lblAlgn val="ctr"/>
        <c:lblOffset val="100"/>
        <c:noMultiLvlLbl val="1"/>
      </c:catAx>
      <c:valAx>
        <c:axId val="2094734553"/>
        <c:scaling>
          <c:orientation val="minMax"/>
          <c:max val="0"/>
          <c:min val="-10"/>
        </c:scaling>
        <c:delete val="0"/>
        <c:axPos val="l"/>
        <c:majorGridlines>
          <c:spPr>
            <a:ln w="12700" cap="flat">
              <a:solidFill>
                <a:srgbClr val="D9E2F3"/>
              </a:solidFill>
              <a:prstDash val="solid"/>
              <a:round/>
            </a:ln>
          </c:spPr>
        </c:majorGridlines>
        <c:numFmt formatCode="0.##" sourceLinked="0"/>
        <c:majorTickMark val="none"/>
        <c:minorTickMark val="none"/>
        <c:tickLblPos val="nextTo"/>
        <c:spPr>
          <a:ln w="12700" cap="flat">
            <a:solidFill>
              <a:srgbClr val="D4D4D4"/>
            </a:solidFill>
            <a:prstDash val="solid"/>
            <a:round/>
          </a:ln>
        </c:spPr>
        <c:txPr>
          <a:bodyPr rot="0"/>
          <a:lstStyle/>
          <a:p>
            <a:pPr>
              <a:defRPr sz="1000" b="0" i="0" u="none" strike="noStrike">
                <a:solidFill>
                  <a:srgbClr val="666666"/>
                </a:solidFill>
                <a:latin typeface="Aptos"/>
              </a:defRPr>
            </a:pPr>
            <a:endParaRPr lang="en-US"/>
          </a:p>
        </c:txPr>
        <c:crossAx val="2094734552"/>
        <c:crosses val="min"/>
        <c:crossBetween val="between"/>
        <c:majorUnit val="2.5"/>
        <c:minorUnit val="1.25"/>
      </c:valAx>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2" name="Shape 62"/>
          <p:cNvSpPr>
            <a:spLocks noGrp="1" noRot="1" noChangeAspect="1"/>
          </p:cNvSpPr>
          <p:nvPr>
            <p:ph type="sldImg"/>
          </p:nvPr>
        </p:nvSpPr>
        <p:spPr>
          <a:xfrm>
            <a:off x="1143000" y="685800"/>
            <a:ext cx="4572000" cy="3429000"/>
          </a:xfrm>
          <a:prstGeom prst="rect">
            <a:avLst/>
          </a:prstGeom>
        </p:spPr>
        <p:txBody>
          <a:bodyPr/>
          <a:lstStyle/>
          <a:p>
            <a:endParaRPr/>
          </a:p>
        </p:txBody>
      </p:sp>
      <p:sp>
        <p:nvSpPr>
          <p:cNvPr id="63" name="Shape 6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Helvetica Neue"/>
      </a:defRPr>
    </a:lvl1pPr>
    <a:lvl2pPr indent="228600" latinLnBrk="0">
      <a:defRPr sz="1200">
        <a:latin typeface="+mn-lt"/>
        <a:ea typeface="+mn-ea"/>
        <a:cs typeface="+mn-cs"/>
        <a:sym typeface="Helvetica Neue"/>
      </a:defRPr>
    </a:lvl2pPr>
    <a:lvl3pPr indent="457200" latinLnBrk="0">
      <a:defRPr sz="1200">
        <a:latin typeface="+mn-lt"/>
        <a:ea typeface="+mn-ea"/>
        <a:cs typeface="+mn-cs"/>
        <a:sym typeface="Helvetica Neue"/>
      </a:defRPr>
    </a:lvl3pPr>
    <a:lvl4pPr indent="685800" latinLnBrk="0">
      <a:defRPr sz="1200">
        <a:latin typeface="+mn-lt"/>
        <a:ea typeface="+mn-ea"/>
        <a:cs typeface="+mn-cs"/>
        <a:sym typeface="Helvetica Neue"/>
      </a:defRPr>
    </a:lvl4pPr>
    <a:lvl5pPr indent="914400" latinLnBrk="0">
      <a:defRPr sz="1200">
        <a:latin typeface="+mn-lt"/>
        <a:ea typeface="+mn-ea"/>
        <a:cs typeface="+mn-cs"/>
        <a:sym typeface="Helvetica Neue"/>
      </a:defRPr>
    </a:lvl5pPr>
    <a:lvl6pPr indent="1143000" latinLnBrk="0">
      <a:defRPr sz="1200">
        <a:latin typeface="+mn-lt"/>
        <a:ea typeface="+mn-ea"/>
        <a:cs typeface="+mn-cs"/>
        <a:sym typeface="Helvetica Neue"/>
      </a:defRPr>
    </a:lvl6pPr>
    <a:lvl7pPr indent="1371600" latinLnBrk="0">
      <a:defRPr sz="1200">
        <a:latin typeface="+mn-lt"/>
        <a:ea typeface="+mn-ea"/>
        <a:cs typeface="+mn-cs"/>
        <a:sym typeface="Helvetica Neue"/>
      </a:defRPr>
    </a:lvl7pPr>
    <a:lvl8pPr indent="1600200" latinLnBrk="0">
      <a:defRPr sz="1200">
        <a:latin typeface="+mn-lt"/>
        <a:ea typeface="+mn-ea"/>
        <a:cs typeface="+mn-cs"/>
        <a:sym typeface="Helvetica Neue"/>
      </a:defRPr>
    </a:lvl8pPr>
    <a:lvl9pPr indent="1828800" latinLnBrk="0">
      <a:defRPr sz="1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Shape 78"/>
          <p:cNvSpPr>
            <a:spLocks noGrp="1" noRot="1" noChangeAspect="1"/>
          </p:cNvSpPr>
          <p:nvPr>
            <p:ph type="sldImg"/>
          </p:nvPr>
        </p:nvSpPr>
        <p:spPr>
          <a:xfrm>
            <a:off x="381000" y="685800"/>
            <a:ext cx="6096000" cy="3429000"/>
          </a:xfrm>
          <a:prstGeom prst="rect">
            <a:avLst/>
          </a:prstGeom>
        </p:spPr>
        <p:txBody>
          <a:bodyPr/>
          <a:lstStyle/>
          <a:p>
            <a:endParaRPr/>
          </a:p>
        </p:txBody>
      </p:sp>
      <p:sp>
        <p:nvSpPr>
          <p:cNvPr id="79" name="Shape 79"/>
          <p:cNvSpPr>
            <a:spLocks noGrp="1"/>
          </p:cNvSpPr>
          <p:nvPr>
            <p:ph type="body" sz="quarter" idx="1"/>
          </p:nvPr>
        </p:nvSpPr>
        <p:spPr>
          <a:prstGeom prst="rect">
            <a:avLst/>
          </a:prstGeom>
        </p:spPr>
        <p:txBody>
          <a:bodyPr/>
          <a:lstStyle/>
          <a:p>
            <a:pPr>
              <a:defRPr sz="1800"/>
            </a:pPr>
            <a:r>
              <a:rPr lang="en-US" sz="1800" b="0" i="0">
                <a:effectLst/>
                <a:latin typeface="+mn-lt"/>
                <a:ea typeface="+mn-ea"/>
                <a:cs typeface="+mn-cs"/>
                <a:sym typeface="Helvetica Neue"/>
              </a:rPr>
              <a:t>Consumer sentiment can move sharply away from what headline macroeconomic indicators would suggest. The practical question is not whether that gap proves consumers are wrong or that media coverage is biased. It is whether the gap should change a forecast, or first change an analyst's uncertainty assessment. This project recommends the second response: treat the gap as a model-risk signal that starts a governed review before any forecast or risk action.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hape 101"/>
          <p:cNvSpPr>
            <a:spLocks noGrp="1" noRot="1" noChangeAspect="1"/>
          </p:cNvSpPr>
          <p:nvPr>
            <p:ph type="sldImg"/>
          </p:nvPr>
        </p:nvSpPr>
        <p:spPr>
          <a:xfrm>
            <a:off x="381000" y="685800"/>
            <a:ext cx="6096000" cy="3429000"/>
          </a:xfrm>
          <a:prstGeom prst="rect">
            <a:avLst/>
          </a:prstGeom>
        </p:spPr>
        <p:txBody>
          <a:bodyPr/>
          <a:lstStyle/>
          <a:p>
            <a:endParaRPr/>
          </a:p>
        </p:txBody>
      </p:sp>
      <p:sp>
        <p:nvSpPr>
          <p:cNvPr id="102" name="Shape 102"/>
          <p:cNvSpPr>
            <a:spLocks noGrp="1"/>
          </p:cNvSpPr>
          <p:nvPr>
            <p:ph type="body" sz="quarter" idx="1"/>
          </p:nvPr>
        </p:nvSpPr>
        <p:spPr>
          <a:prstGeom prst="rect">
            <a:avLst/>
          </a:prstGeom>
        </p:spPr>
        <p:txBody>
          <a:bodyPr/>
          <a:lstStyle/>
          <a:p>
            <a:pPr>
              <a:defRPr sz="1800"/>
            </a:pPr>
            <a:r>
              <a:rPr lang="en-US" sz="1800" b="0" i="0">
                <a:effectLst/>
                <a:latin typeface="+mn-lt"/>
                <a:ea typeface="+mn-ea"/>
                <a:cs typeface="+mn-cs"/>
                <a:sym typeface="Helvetica Neue"/>
              </a:rPr>
              <a:t>Three explanations can coexist. First, headline growth and inflation may miss household pressures such as broader unemployment, debt service, housing affordability, or the accumulated price level. Second, narratives and framing may shape the information environment, although the text data in this project measure content supply rather than exposure or belief. Third, a gap can reflect timing, data revisions, survey-method changes, autocorrelation, or a short estimation sample. A negative residual therefore identifies uncertainty. It does not, by itself, tell us which explanation is correct.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Shape 119"/>
          <p:cNvSpPr>
            <a:spLocks noGrp="1" noRot="1" noChangeAspect="1"/>
          </p:cNvSpPr>
          <p:nvPr>
            <p:ph type="sldImg"/>
          </p:nvPr>
        </p:nvSpPr>
        <p:spPr>
          <a:xfrm>
            <a:off x="381000" y="685800"/>
            <a:ext cx="6096000" cy="3429000"/>
          </a:xfrm>
          <a:prstGeom prst="rect">
            <a:avLst/>
          </a:prstGeom>
        </p:spPr>
        <p:txBody>
          <a:bodyPr/>
          <a:lstStyle/>
          <a:p>
            <a:endParaRPr/>
          </a:p>
        </p:txBody>
      </p:sp>
      <p:sp>
        <p:nvSpPr>
          <p:cNvPr id="120" name="Shape 120"/>
          <p:cNvSpPr>
            <a:spLocks noGrp="1"/>
          </p:cNvSpPr>
          <p:nvPr>
            <p:ph type="body" sz="quarter" idx="1"/>
          </p:nvPr>
        </p:nvSpPr>
        <p:spPr>
          <a:prstGeom prst="rect">
            <a:avLst/>
          </a:prstGeom>
        </p:spPr>
        <p:txBody>
          <a:bodyPr/>
          <a:lstStyle/>
          <a:p>
            <a:r>
              <a:rPr lang="en-US" sz="1200" b="0" i="0">
                <a:effectLst/>
                <a:latin typeface="+mn-lt"/>
                <a:ea typeface="+mn-ea"/>
                <a:cs typeface="+mn-cs"/>
                <a:sym typeface="Helvetica Neue"/>
              </a:rPr>
              <a:t>The baseline combines the Michigan consumer sentiment index with U-3 unemployment, PCE inflation, and quarterly GDP growth. It uses documented availability rules and does not convert quarterly GDP into invented monthly values. The broader-control analysis adds U-6, income, cumulative prices, debt service, housing affordability, and policy uncertainty to test whether headline indicators omit relevant household conditions. The media corpus has a different role. It records tone, framing, salience, and factual calibration in sampled content, but it cannot establish engagement or respondent exposure.</a:t>
            </a:r>
          </a:p>
          <a:p>
            <a:br>
              <a:rPr lang="en-US"/>
            </a:b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Shape 156"/>
          <p:cNvSpPr>
            <a:spLocks noGrp="1" noRot="1" noChangeAspect="1"/>
          </p:cNvSpPr>
          <p:nvPr>
            <p:ph type="sldImg"/>
          </p:nvPr>
        </p:nvSpPr>
        <p:spPr>
          <a:xfrm>
            <a:off x="381000" y="685800"/>
            <a:ext cx="6096000" cy="3429000"/>
          </a:xfrm>
          <a:prstGeom prst="rect">
            <a:avLst/>
          </a:prstGeom>
        </p:spPr>
        <p:txBody>
          <a:bodyPr/>
          <a:lstStyle/>
          <a:p>
            <a:endParaRPr/>
          </a:p>
        </p:txBody>
      </p:sp>
      <p:sp>
        <p:nvSpPr>
          <p:cNvPr id="157" name="Shape 157"/>
          <p:cNvSpPr>
            <a:spLocks noGrp="1"/>
          </p:cNvSpPr>
          <p:nvPr>
            <p:ph type="body" sz="quarter" idx="1"/>
          </p:nvPr>
        </p:nvSpPr>
        <p:spPr>
          <a:prstGeom prst="rect">
            <a:avLst/>
          </a:prstGeom>
        </p:spPr>
        <p:txBody>
          <a:bodyPr/>
          <a:lstStyle/>
          <a:p>
            <a:pPr>
              <a:defRPr sz="1800"/>
            </a:pPr>
            <a:r>
              <a:rPr lang="en-US" sz="1800" b="0" i="0">
                <a:effectLst/>
                <a:latin typeface="+mn-lt"/>
                <a:ea typeface="+mn-ea"/>
                <a:cs typeface="+mn-cs"/>
                <a:sym typeface="Helvetica Neue"/>
              </a:rPr>
              <a:t>The narrative measures pass a basic quality gate before entering the review process. Two independent, source-blinded reviewers labeled 312 items. Their raw agreement was 59.3 percent and Cohen's kappa was 0.437, which is moderate rather than definitive agreement. Original votes, final decisions, evidence excerpts, source metadata, and model records are retained. The key boundary matters: a dictionary does not validate a large language model, and a content label does not show who saw, remembered, or believed the content.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Shape 174"/>
          <p:cNvSpPr>
            <a:spLocks noGrp="1" noRot="1" noChangeAspect="1"/>
          </p:cNvSpPr>
          <p:nvPr>
            <p:ph type="sldImg"/>
          </p:nvPr>
        </p:nvSpPr>
        <p:spPr>
          <a:xfrm>
            <a:off x="381000" y="685800"/>
            <a:ext cx="6096000" cy="3429000"/>
          </a:xfrm>
          <a:prstGeom prst="rect">
            <a:avLst/>
          </a:prstGeom>
        </p:spPr>
        <p:txBody>
          <a:bodyPr/>
          <a:lstStyle/>
          <a:p>
            <a:endParaRPr/>
          </a:p>
        </p:txBody>
      </p:sp>
      <p:sp>
        <p:nvSpPr>
          <p:cNvPr id="175" name="Shape 175"/>
          <p:cNvSpPr>
            <a:spLocks noGrp="1"/>
          </p:cNvSpPr>
          <p:nvPr>
            <p:ph type="body" sz="quarter" idx="1"/>
          </p:nvPr>
        </p:nvSpPr>
        <p:spPr>
          <a:prstGeom prst="rect">
            <a:avLst/>
          </a:prstGeom>
        </p:spPr>
        <p:txBody>
          <a:bodyPr/>
          <a:lstStyle/>
          <a:p>
            <a:pPr>
              <a:defRPr sz="1800"/>
            </a:pPr>
            <a:r>
              <a:rPr lang="en-US" sz="1800" b="0" i="0">
                <a:effectLst/>
                <a:latin typeface="+mn-lt"/>
                <a:ea typeface="+mn-ea"/>
                <a:cs typeface="+mn-cs"/>
                <a:sym typeface="Helvetica Neue"/>
              </a:rPr>
              <a:t>The economic-only model has an out-of-sample MAE of 12.579. A household-stress proxy reduces MAE to 8.178, and the expanded public-control model reduces it to 4.467. Those gains indicate that the narrow baseline misses relevant household information. They do not identify a causal share of the sentiment gap. In the historical common-sample comparison, adding one-month lagged media tone does not improve MAE, and the version with media plus archived controls performs worse. The evidence therefore favors broader household measures over media tone as a forecasting extension.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Shape 195"/>
          <p:cNvSpPr>
            <a:spLocks noGrp="1" noRot="1" noChangeAspect="1"/>
          </p:cNvSpPr>
          <p:nvPr>
            <p:ph type="sldImg"/>
          </p:nvPr>
        </p:nvSpPr>
        <p:spPr>
          <a:xfrm>
            <a:off x="381000" y="685800"/>
            <a:ext cx="6096000" cy="3429000"/>
          </a:xfrm>
          <a:prstGeom prst="rect">
            <a:avLst/>
          </a:prstGeom>
        </p:spPr>
        <p:txBody>
          <a:bodyPr/>
          <a:lstStyle/>
          <a:p>
            <a:endParaRPr/>
          </a:p>
        </p:txBody>
      </p:sp>
      <p:sp>
        <p:nvSpPr>
          <p:cNvPr id="196" name="Shape 196"/>
          <p:cNvSpPr>
            <a:spLocks noGrp="1"/>
          </p:cNvSpPr>
          <p:nvPr>
            <p:ph type="body" sz="quarter" idx="1"/>
          </p:nvPr>
        </p:nvSpPr>
        <p:spPr>
          <a:prstGeom prst="rect">
            <a:avLst/>
          </a:prstGeom>
        </p:spPr>
        <p:txBody>
          <a:bodyPr/>
          <a:lstStyle/>
          <a:p>
            <a:pPr>
              <a:defRPr sz="1800"/>
            </a:pPr>
            <a:r>
              <a:rPr lang="en-US" sz="1800" b="0" i="0">
                <a:effectLst/>
                <a:latin typeface="+mn-lt"/>
                <a:ea typeface="+mn-ea"/>
                <a:cs typeface="+mn-cs"/>
                <a:sym typeface="Helvetica Neue"/>
              </a:rPr>
              <a:t>The historical association analysis finds that higher prior-month negative tone is associated with lower headline sentiment, Current Conditions, and Expectations. The models use lagged outcomes, U-3, PCE, GDP, seasonality, and Newey-West uncertainty, and they include a future-media placebo. Even so, 89 aligned months cannot solve the identification problem. Economic shocks, selective consumption, publisher incentives, and unobserved household conditions can affect both content tone and sentiment. Without respondent-level exposure or an external treatment, these estimates are useful for research triage, not a causal forecast input.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Shape 224"/>
          <p:cNvSpPr>
            <a:spLocks noGrp="1" noRot="1" noChangeAspect="1"/>
          </p:cNvSpPr>
          <p:nvPr>
            <p:ph type="sldImg"/>
          </p:nvPr>
        </p:nvSpPr>
        <p:spPr>
          <a:xfrm>
            <a:off x="381000" y="685800"/>
            <a:ext cx="6096000" cy="3429000"/>
          </a:xfrm>
          <a:prstGeom prst="rect">
            <a:avLst/>
          </a:prstGeom>
        </p:spPr>
        <p:txBody>
          <a:bodyPr/>
          <a:lstStyle/>
          <a:p>
            <a:endParaRPr/>
          </a:p>
        </p:txBody>
      </p:sp>
      <p:sp>
        <p:nvSpPr>
          <p:cNvPr id="225" name="Shape 225"/>
          <p:cNvSpPr>
            <a:spLocks noGrp="1"/>
          </p:cNvSpPr>
          <p:nvPr>
            <p:ph type="body" sz="quarter" idx="1"/>
          </p:nvPr>
        </p:nvSpPr>
        <p:spPr>
          <a:prstGeom prst="rect">
            <a:avLst/>
          </a:prstGeom>
        </p:spPr>
        <p:txBody>
          <a:bodyPr/>
          <a:lstStyle/>
          <a:p>
            <a:pPr>
              <a:defRPr sz="1800"/>
            </a:pPr>
            <a:r>
              <a:rPr lang="en-US" sz="1800" b="0" i="0">
                <a:effectLst/>
                <a:latin typeface="+mn-lt"/>
                <a:ea typeface="+mn-ea"/>
                <a:cs typeface="+mn-cs"/>
                <a:sym typeface="Helvetica Neue"/>
              </a:rPr>
              <a:t>An analyst can use the availability-aware baseline, measurement documentation, disclosed missingness, source-content comparisons, and historical associations as context in a review. The analyst should not infer that negative coverage is biased, that respondents saw the sampled content, or that media tone caused national sentiment. The decision rule is simple: start a review, keep uncertainty visible, and seek corroborating evidence. Changing a forecast because of media would require exposure evidence or a credible causal research design.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Shape 251"/>
          <p:cNvSpPr>
            <a:spLocks noGrp="1" noRot="1" noChangeAspect="1"/>
          </p:cNvSpPr>
          <p:nvPr>
            <p:ph type="sldImg"/>
          </p:nvPr>
        </p:nvSpPr>
        <p:spPr>
          <a:xfrm>
            <a:off x="381000" y="685800"/>
            <a:ext cx="6096000" cy="3429000"/>
          </a:xfrm>
          <a:prstGeom prst="rect">
            <a:avLst/>
          </a:prstGeom>
        </p:spPr>
        <p:txBody>
          <a:bodyPr/>
          <a:lstStyle/>
          <a:p>
            <a:endParaRPr/>
          </a:p>
        </p:txBody>
      </p:sp>
      <p:sp>
        <p:nvSpPr>
          <p:cNvPr id="252" name="Shape 252"/>
          <p:cNvSpPr>
            <a:spLocks noGrp="1"/>
          </p:cNvSpPr>
          <p:nvPr>
            <p:ph type="body" sz="quarter" idx="1"/>
          </p:nvPr>
        </p:nvSpPr>
        <p:spPr>
          <a:prstGeom prst="rect">
            <a:avLst/>
          </a:prstGeom>
        </p:spPr>
        <p:txBody>
          <a:bodyPr/>
          <a:lstStyle/>
          <a:p>
            <a:pPr>
              <a:defRPr sz="1800"/>
            </a:pPr>
            <a:r>
              <a:rPr lang="en-US" sz="1800" b="0" i="0">
                <a:effectLst/>
                <a:latin typeface="+mn-lt"/>
                <a:ea typeface="+mn-ea"/>
                <a:cs typeface="+mn-cs"/>
                <a:sym typeface="Helvetica Neue"/>
              </a:rPr>
              <a:t>On each relevant release day, the dashboard supports four steps. Detect the gap and confirm the partial-period and release status. Diagnose it by comparing forecast variants, vintages, revisions, household controls, and survey comparability. Review the validated narrative measures only as context. Then archive the inputs, labels, vintages, performance results, event log, and missing-data status. The practical implication is conservative: the organization may widen uncertainty or retain the forecast while the evidence remains incomplete, but it should not make automatic narrative-driven forecast changes.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Shape 273"/>
          <p:cNvSpPr>
            <a:spLocks noGrp="1" noRot="1" noChangeAspect="1"/>
          </p:cNvSpPr>
          <p:nvPr>
            <p:ph type="sldImg"/>
          </p:nvPr>
        </p:nvSpPr>
        <p:spPr>
          <a:prstGeom prst="rect">
            <a:avLst/>
          </a:prstGeom>
        </p:spPr>
        <p:txBody>
          <a:bodyPr/>
          <a:lstStyle/>
          <a:p>
            <a:endParaRPr/>
          </a:p>
        </p:txBody>
      </p:sp>
      <p:sp>
        <p:nvSpPr>
          <p:cNvPr id="274" name="Shape 274"/>
          <p:cNvSpPr>
            <a:spLocks noGrp="1"/>
          </p:cNvSpPr>
          <p:nvPr>
            <p:ph type="body" sz="quarter" idx="1"/>
          </p:nvPr>
        </p:nvSpPr>
        <p:spPr>
          <a:prstGeom prst="rect">
            <a:avLst/>
          </a:prstGeom>
        </p:spPr>
        <p:txBody>
          <a:bodyPr/>
          <a:lstStyle/>
          <a:p>
            <a:r>
              <a:t>Close by directing the audience to the written report for complete citations, the reproducible notebook for analysis, and the dashboard for the current monitoring snapshot.</a:t>
            </a:r>
          </a:p>
          <a:p>
            <a:endParaRPr/>
          </a:p>
          <a:p>
            <a:r>
              <a:t>Sources: Project repository outputs and documentation as cited on slide.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219200" y="2590800"/>
            <a:ext cx="9753600" cy="990600"/>
          </a:xfrm>
          <a:prstGeom prst="rect">
            <a:avLst/>
          </a:prstGeom>
        </p:spPr>
        <p:txBody>
          <a:bodyPr anchor="ctr"/>
          <a:lstStyle/>
          <a:p>
            <a:r>
              <a:t>Title Text</a:t>
            </a:r>
          </a:p>
        </p:txBody>
      </p:sp>
      <p:sp>
        <p:nvSpPr>
          <p:cNvPr id="12" name="Body Level One…"/>
          <p:cNvSpPr txBox="1">
            <a:spLocks noGrp="1"/>
          </p:cNvSpPr>
          <p:nvPr>
            <p:ph type="body" sz="quarter" idx="1"/>
          </p:nvPr>
        </p:nvSpPr>
        <p:spPr>
          <a:xfrm>
            <a:off x="1828800" y="3771900"/>
            <a:ext cx="8534400" cy="762000"/>
          </a:xfrm>
          <a:prstGeom prst="rect">
            <a:avLst/>
          </a:prstGeom>
        </p:spPr>
        <p:txBody>
          <a:bodyPr anchor="ctr"/>
          <a:lstStyle>
            <a:lvl1pPr marL="0" indent="0">
              <a:spcBef>
                <a:spcPts val="0"/>
              </a:spcBef>
              <a:buSzTx/>
              <a:buNone/>
            </a:lvl1pPr>
            <a:lvl2pPr marL="0" indent="0">
              <a:spcBef>
                <a:spcPts val="0"/>
              </a:spcBef>
              <a:buSzTx/>
              <a:buNone/>
            </a:lvl2pPr>
            <a:lvl3pPr marL="0" indent="0">
              <a:spcBef>
                <a:spcPts val="0"/>
              </a:spcBef>
              <a:buSzTx/>
              <a:buNone/>
            </a:lvl3pPr>
            <a:lvl4pPr marL="0" indent="0">
              <a:spcBef>
                <a:spcPts val="0"/>
              </a:spcBef>
              <a:buSzTx/>
              <a:buNone/>
            </a:lvl4pPr>
            <a:lvl5pPr marL="0" indent="0">
              <a:spcBef>
                <a:spcPts val="0"/>
              </a:spcBef>
              <a:buSzTx/>
              <a:buNone/>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0" name="Title Text"/>
          <p:cNvSpPr txBox="1">
            <a:spLocks noGrp="1"/>
          </p:cNvSpPr>
          <p:nvPr>
            <p:ph type="title"/>
          </p:nvPr>
        </p:nvSpPr>
        <p:spPr>
          <a:xfrm>
            <a:off x="1219200" y="2857500"/>
            <a:ext cx="9753600" cy="1143000"/>
          </a:xfrm>
          <a:prstGeom prst="rect">
            <a:avLst/>
          </a:prstGeom>
        </p:spPr>
        <p:txBody>
          <a:bodyPr anchor="ctr"/>
          <a:lstStyle/>
          <a:p>
            <a:r>
              <a:t>Title Text</a:t>
            </a:r>
          </a:p>
        </p:txBody>
      </p:sp>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
        <p:cNvGrpSpPr/>
        <p:nvPr/>
      </p:nvGrpSpPr>
      <p:grpSpPr>
        <a:xfrm>
          <a:off x="0" y="0"/>
          <a:ext cx="0" cy="0"/>
          <a:chOff x="0" y="0"/>
          <a:chExt cx="0" cy="0"/>
        </a:xfrm>
      </p:grpSpPr>
      <p:sp>
        <p:nvSpPr>
          <p:cNvPr id="28" name="Title Text"/>
          <p:cNvSpPr txBox="1">
            <a:spLocks noGrp="1"/>
          </p:cNvSpPr>
          <p:nvPr>
            <p:ph type="title"/>
          </p:nvPr>
        </p:nvSpPr>
        <p:spPr>
          <a:prstGeom prst="rect">
            <a:avLst/>
          </a:prstGeom>
        </p:spPr>
        <p:txBody>
          <a:bodyPr/>
          <a:lstStyle/>
          <a:p>
            <a:r>
              <a:t>Title Text</a:t>
            </a:r>
          </a:p>
        </p:txBody>
      </p:sp>
      <p:sp>
        <p:nvSpPr>
          <p:cNvPr id="2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Two Column">
    <p:spTree>
      <p:nvGrpSpPr>
        <p:cNvPr id="1" name=""/>
        <p:cNvGrpSpPr/>
        <p:nvPr/>
      </p:nvGrpSpPr>
      <p:grpSpPr>
        <a:xfrm>
          <a:off x="0" y="0"/>
          <a:ext cx="0" cy="0"/>
          <a:chOff x="0" y="0"/>
          <a:chExt cx="0" cy="0"/>
        </a:xfrm>
      </p:grpSpPr>
      <p:sp>
        <p:nvSpPr>
          <p:cNvPr id="37" name="Title Text"/>
          <p:cNvSpPr txBox="1">
            <a:spLocks noGrp="1"/>
          </p:cNvSpPr>
          <p:nvPr>
            <p:ph type="title"/>
          </p:nvPr>
        </p:nvSpPr>
        <p:spPr>
          <a:prstGeom prst="rect">
            <a:avLst/>
          </a:prstGeom>
        </p:spPr>
        <p:txBody>
          <a:bodyPr/>
          <a:lstStyle/>
          <a:p>
            <a:r>
              <a:t>Title Text</a:t>
            </a:r>
          </a:p>
        </p:txBody>
      </p:sp>
      <p:sp>
        <p:nvSpPr>
          <p:cNvPr id="38" name="Body Level One…"/>
          <p:cNvSpPr txBox="1">
            <a:spLocks noGrp="1"/>
          </p:cNvSpPr>
          <p:nvPr>
            <p:ph type="body" sz="half" idx="1"/>
          </p:nvPr>
        </p:nvSpPr>
        <p:spPr>
          <a:xfrm>
            <a:off x="685800" y="1905000"/>
            <a:ext cx="5029200" cy="42672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9" name="Right column"/>
          <p:cNvSpPr>
            <a:spLocks noGrp="1"/>
          </p:cNvSpPr>
          <p:nvPr>
            <p:ph type="body" sz="half" idx="21"/>
          </p:nvPr>
        </p:nvSpPr>
        <p:spPr>
          <a:xfrm>
            <a:off x="6477000" y="1905000"/>
            <a:ext cx="5029200" cy="4267200"/>
          </a:xfrm>
          <a:prstGeom prst="rect">
            <a:avLst/>
          </a:prstGeom>
        </p:spPr>
        <p:txBody>
          <a:bodyPr/>
          <a:lstStyle/>
          <a:p>
            <a:endParaRP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One Column">
    <p:spTree>
      <p:nvGrpSpPr>
        <p:cNvPr id="1" name=""/>
        <p:cNvGrpSpPr/>
        <p:nvPr/>
      </p:nvGrpSpPr>
      <p:grpSpPr>
        <a:xfrm>
          <a:off x="0" y="0"/>
          <a:ext cx="0" cy="0"/>
          <a:chOff x="0" y="0"/>
          <a:chExt cx="0" cy="0"/>
        </a:xfrm>
      </p:grpSpPr>
      <p:sp>
        <p:nvSpPr>
          <p:cNvPr id="47" name="Title Text"/>
          <p:cNvSpPr txBox="1">
            <a:spLocks noGrp="1"/>
          </p:cNvSpPr>
          <p:nvPr>
            <p:ph type="title"/>
          </p:nvPr>
        </p:nvSpPr>
        <p:spPr>
          <a:prstGeom prst="rect">
            <a:avLst/>
          </a:prstGeom>
        </p:spPr>
        <p:txBody>
          <a:bodyPr/>
          <a:lstStyle/>
          <a:p>
            <a:r>
              <a:t>Title Text</a:t>
            </a:r>
          </a:p>
        </p:txBody>
      </p:sp>
      <p:sp>
        <p:nvSpPr>
          <p:cNvPr id="48" name="Body Level One…"/>
          <p:cNvSpPr txBox="1">
            <a:spLocks noGrp="1"/>
          </p:cNvSpPr>
          <p:nvPr>
            <p:ph type="body" sz="half" idx="1"/>
          </p:nvPr>
        </p:nvSpPr>
        <p:spPr>
          <a:xfrm>
            <a:off x="685800" y="1905000"/>
            <a:ext cx="5029200" cy="42672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5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85800" y="533400"/>
            <a:ext cx="10820400" cy="838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Title Text</a:t>
            </a:r>
          </a:p>
        </p:txBody>
      </p:sp>
      <p:sp>
        <p:nvSpPr>
          <p:cNvPr id="3" name="Body Level One…"/>
          <p:cNvSpPr txBox="1">
            <a:spLocks noGrp="1"/>
          </p:cNvSpPr>
          <p:nvPr>
            <p:ph type="body" idx="1"/>
          </p:nvPr>
        </p:nvSpPr>
        <p:spPr>
          <a:xfrm>
            <a:off x="685800" y="1905000"/>
            <a:ext cx="10820400" cy="426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atin typeface="+mj-lt"/>
                <a:ea typeface="+mj-ea"/>
                <a:cs typeface="+mj-cs"/>
                <a:sym typeface="Helvetica"/>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med"/>
  <p:txStyles>
    <p:titleStyle>
      <a:lvl1pPr marL="0" marR="0" indent="0" algn="l" defTabSz="914400" latinLnBrk="0">
        <a:lnSpc>
          <a:spcPct val="110000"/>
        </a:lnSpc>
        <a:spcBef>
          <a:spcPts val="0"/>
        </a:spcBef>
        <a:spcAft>
          <a:spcPts val="0"/>
        </a:spcAft>
        <a:buClrTx/>
        <a:buSzTx/>
        <a:buFontTx/>
        <a:buNone/>
        <a:tabLst/>
        <a:defRPr sz="4400" b="0" i="0" u="none" strike="noStrike" cap="none" spc="0" baseline="0">
          <a:solidFill>
            <a:srgbClr val="000000"/>
          </a:solidFill>
          <a:uFillTx/>
          <a:latin typeface="Aptos"/>
          <a:ea typeface="Aptos"/>
          <a:cs typeface="Aptos"/>
          <a:sym typeface="Aptos"/>
        </a:defRPr>
      </a:lvl1pPr>
      <a:lvl2pPr marL="0" marR="0" indent="0" algn="l" defTabSz="914400" latinLnBrk="0">
        <a:lnSpc>
          <a:spcPct val="110000"/>
        </a:lnSpc>
        <a:spcBef>
          <a:spcPts val="0"/>
        </a:spcBef>
        <a:spcAft>
          <a:spcPts val="0"/>
        </a:spcAft>
        <a:buClrTx/>
        <a:buSzTx/>
        <a:buFontTx/>
        <a:buNone/>
        <a:tabLst/>
        <a:defRPr sz="4400" b="0" i="0" u="none" strike="noStrike" cap="none" spc="0" baseline="0">
          <a:solidFill>
            <a:srgbClr val="000000"/>
          </a:solidFill>
          <a:uFillTx/>
          <a:latin typeface="Aptos"/>
          <a:ea typeface="Aptos"/>
          <a:cs typeface="Aptos"/>
          <a:sym typeface="Aptos"/>
        </a:defRPr>
      </a:lvl2pPr>
      <a:lvl3pPr marL="0" marR="0" indent="0" algn="l" defTabSz="914400" latinLnBrk="0">
        <a:lnSpc>
          <a:spcPct val="110000"/>
        </a:lnSpc>
        <a:spcBef>
          <a:spcPts val="0"/>
        </a:spcBef>
        <a:spcAft>
          <a:spcPts val="0"/>
        </a:spcAft>
        <a:buClrTx/>
        <a:buSzTx/>
        <a:buFontTx/>
        <a:buNone/>
        <a:tabLst/>
        <a:defRPr sz="4400" b="0" i="0" u="none" strike="noStrike" cap="none" spc="0" baseline="0">
          <a:solidFill>
            <a:srgbClr val="000000"/>
          </a:solidFill>
          <a:uFillTx/>
          <a:latin typeface="Aptos"/>
          <a:ea typeface="Aptos"/>
          <a:cs typeface="Aptos"/>
          <a:sym typeface="Aptos"/>
        </a:defRPr>
      </a:lvl3pPr>
      <a:lvl4pPr marL="0" marR="0" indent="0" algn="l" defTabSz="914400" latinLnBrk="0">
        <a:lnSpc>
          <a:spcPct val="110000"/>
        </a:lnSpc>
        <a:spcBef>
          <a:spcPts val="0"/>
        </a:spcBef>
        <a:spcAft>
          <a:spcPts val="0"/>
        </a:spcAft>
        <a:buClrTx/>
        <a:buSzTx/>
        <a:buFontTx/>
        <a:buNone/>
        <a:tabLst/>
        <a:defRPr sz="4400" b="0" i="0" u="none" strike="noStrike" cap="none" spc="0" baseline="0">
          <a:solidFill>
            <a:srgbClr val="000000"/>
          </a:solidFill>
          <a:uFillTx/>
          <a:latin typeface="Aptos"/>
          <a:ea typeface="Aptos"/>
          <a:cs typeface="Aptos"/>
          <a:sym typeface="Aptos"/>
        </a:defRPr>
      </a:lvl4pPr>
      <a:lvl5pPr marL="0" marR="0" indent="0" algn="l" defTabSz="914400" latinLnBrk="0">
        <a:lnSpc>
          <a:spcPct val="110000"/>
        </a:lnSpc>
        <a:spcBef>
          <a:spcPts val="0"/>
        </a:spcBef>
        <a:spcAft>
          <a:spcPts val="0"/>
        </a:spcAft>
        <a:buClrTx/>
        <a:buSzTx/>
        <a:buFontTx/>
        <a:buNone/>
        <a:tabLst/>
        <a:defRPr sz="4400" b="0" i="0" u="none" strike="noStrike" cap="none" spc="0" baseline="0">
          <a:solidFill>
            <a:srgbClr val="000000"/>
          </a:solidFill>
          <a:uFillTx/>
          <a:latin typeface="Aptos"/>
          <a:ea typeface="Aptos"/>
          <a:cs typeface="Aptos"/>
          <a:sym typeface="Aptos"/>
        </a:defRPr>
      </a:lvl5pPr>
      <a:lvl6pPr marL="0" marR="0" indent="0" algn="l" defTabSz="914400" latinLnBrk="0">
        <a:lnSpc>
          <a:spcPct val="110000"/>
        </a:lnSpc>
        <a:spcBef>
          <a:spcPts val="0"/>
        </a:spcBef>
        <a:spcAft>
          <a:spcPts val="0"/>
        </a:spcAft>
        <a:buClrTx/>
        <a:buSzTx/>
        <a:buFontTx/>
        <a:buNone/>
        <a:tabLst/>
        <a:defRPr sz="4400" b="0" i="0" u="none" strike="noStrike" cap="none" spc="0" baseline="0">
          <a:solidFill>
            <a:srgbClr val="000000"/>
          </a:solidFill>
          <a:uFillTx/>
          <a:latin typeface="Aptos"/>
          <a:ea typeface="Aptos"/>
          <a:cs typeface="Aptos"/>
          <a:sym typeface="Aptos"/>
        </a:defRPr>
      </a:lvl6pPr>
      <a:lvl7pPr marL="0" marR="0" indent="0" algn="l" defTabSz="914400" latinLnBrk="0">
        <a:lnSpc>
          <a:spcPct val="110000"/>
        </a:lnSpc>
        <a:spcBef>
          <a:spcPts val="0"/>
        </a:spcBef>
        <a:spcAft>
          <a:spcPts val="0"/>
        </a:spcAft>
        <a:buClrTx/>
        <a:buSzTx/>
        <a:buFontTx/>
        <a:buNone/>
        <a:tabLst/>
        <a:defRPr sz="4400" b="0" i="0" u="none" strike="noStrike" cap="none" spc="0" baseline="0">
          <a:solidFill>
            <a:srgbClr val="000000"/>
          </a:solidFill>
          <a:uFillTx/>
          <a:latin typeface="Aptos"/>
          <a:ea typeface="Aptos"/>
          <a:cs typeface="Aptos"/>
          <a:sym typeface="Aptos"/>
        </a:defRPr>
      </a:lvl7pPr>
      <a:lvl8pPr marL="0" marR="0" indent="0" algn="l" defTabSz="914400" latinLnBrk="0">
        <a:lnSpc>
          <a:spcPct val="110000"/>
        </a:lnSpc>
        <a:spcBef>
          <a:spcPts val="0"/>
        </a:spcBef>
        <a:spcAft>
          <a:spcPts val="0"/>
        </a:spcAft>
        <a:buClrTx/>
        <a:buSzTx/>
        <a:buFontTx/>
        <a:buNone/>
        <a:tabLst/>
        <a:defRPr sz="4400" b="0" i="0" u="none" strike="noStrike" cap="none" spc="0" baseline="0">
          <a:solidFill>
            <a:srgbClr val="000000"/>
          </a:solidFill>
          <a:uFillTx/>
          <a:latin typeface="Aptos"/>
          <a:ea typeface="Aptos"/>
          <a:cs typeface="Aptos"/>
          <a:sym typeface="Aptos"/>
        </a:defRPr>
      </a:lvl8pPr>
      <a:lvl9pPr marL="0" marR="0" indent="0" algn="l" defTabSz="914400" latinLnBrk="0">
        <a:lnSpc>
          <a:spcPct val="110000"/>
        </a:lnSpc>
        <a:spcBef>
          <a:spcPts val="0"/>
        </a:spcBef>
        <a:spcAft>
          <a:spcPts val="0"/>
        </a:spcAft>
        <a:buClrTx/>
        <a:buSzTx/>
        <a:buFontTx/>
        <a:buNone/>
        <a:tabLst/>
        <a:defRPr sz="4400" b="0" i="0" u="none" strike="noStrike" cap="none" spc="0" baseline="0">
          <a:solidFill>
            <a:srgbClr val="000000"/>
          </a:solidFill>
          <a:uFillTx/>
          <a:latin typeface="Aptos"/>
          <a:ea typeface="Aptos"/>
          <a:cs typeface="Aptos"/>
          <a:sym typeface="Aptos"/>
        </a:defRPr>
      </a:lvl9pPr>
    </p:titleStyle>
    <p:bodyStyle>
      <a:lvl1pPr marL="228600" marR="0" indent="-228600" algn="l" defTabSz="914400" latinLnBrk="0">
        <a:lnSpc>
          <a:spcPct val="110000"/>
        </a:lnSpc>
        <a:spcBef>
          <a:spcPts val="1200"/>
        </a:spcBef>
        <a:spcAft>
          <a:spcPts val="0"/>
        </a:spcAft>
        <a:buClrTx/>
        <a:buSzPct val="100000"/>
        <a:buFontTx/>
        <a:buChar char="•"/>
        <a:tabLst/>
        <a:defRPr sz="2800" b="0" i="0" u="none" strike="noStrike" cap="none" spc="0" baseline="0">
          <a:solidFill>
            <a:srgbClr val="000000"/>
          </a:solidFill>
          <a:uFillTx/>
          <a:latin typeface="Aptos"/>
          <a:ea typeface="Aptos"/>
          <a:cs typeface="Aptos"/>
          <a:sym typeface="Aptos"/>
        </a:defRPr>
      </a:lvl1pPr>
      <a:lvl2pPr marL="571500" marR="0" indent="-266700" algn="l" defTabSz="914400" latinLnBrk="0">
        <a:lnSpc>
          <a:spcPct val="110000"/>
        </a:lnSpc>
        <a:spcBef>
          <a:spcPts val="1200"/>
        </a:spcBef>
        <a:spcAft>
          <a:spcPts val="0"/>
        </a:spcAft>
        <a:buClrTx/>
        <a:buSzPct val="100000"/>
        <a:buFontTx/>
        <a:buChar char="•"/>
        <a:tabLst/>
        <a:defRPr sz="2800" b="0" i="0" u="none" strike="noStrike" cap="none" spc="0" baseline="0">
          <a:solidFill>
            <a:srgbClr val="000000"/>
          </a:solidFill>
          <a:uFillTx/>
          <a:latin typeface="Aptos"/>
          <a:ea typeface="Aptos"/>
          <a:cs typeface="Aptos"/>
          <a:sym typeface="Aptos"/>
        </a:defRPr>
      </a:lvl2pPr>
      <a:lvl3pPr marL="929639" marR="0" indent="-320039" algn="l" defTabSz="914400" latinLnBrk="0">
        <a:lnSpc>
          <a:spcPct val="110000"/>
        </a:lnSpc>
        <a:spcBef>
          <a:spcPts val="1200"/>
        </a:spcBef>
        <a:spcAft>
          <a:spcPts val="0"/>
        </a:spcAft>
        <a:buClrTx/>
        <a:buSzPct val="100000"/>
        <a:buFontTx/>
        <a:buChar char="•"/>
        <a:tabLst/>
        <a:defRPr sz="2800" b="0" i="0" u="none" strike="noStrike" cap="none" spc="0" baseline="0">
          <a:solidFill>
            <a:srgbClr val="000000"/>
          </a:solidFill>
          <a:uFillTx/>
          <a:latin typeface="Aptos"/>
          <a:ea typeface="Aptos"/>
          <a:cs typeface="Aptos"/>
          <a:sym typeface="Aptos"/>
        </a:defRPr>
      </a:lvl3pPr>
      <a:lvl4pPr marL="1270000" marR="0" indent="-355600" algn="l" defTabSz="914400" latinLnBrk="0">
        <a:lnSpc>
          <a:spcPct val="110000"/>
        </a:lnSpc>
        <a:spcBef>
          <a:spcPts val="1200"/>
        </a:spcBef>
        <a:spcAft>
          <a:spcPts val="0"/>
        </a:spcAft>
        <a:buClrTx/>
        <a:buSzPct val="100000"/>
        <a:buFontTx/>
        <a:buChar char="•"/>
        <a:tabLst/>
        <a:defRPr sz="2800" b="0" i="0" u="none" strike="noStrike" cap="none" spc="0" baseline="0">
          <a:solidFill>
            <a:srgbClr val="000000"/>
          </a:solidFill>
          <a:uFillTx/>
          <a:latin typeface="Aptos"/>
          <a:ea typeface="Aptos"/>
          <a:cs typeface="Aptos"/>
          <a:sym typeface="Aptos"/>
        </a:defRPr>
      </a:lvl4pPr>
      <a:lvl5pPr marL="1574800" marR="0" indent="-355600" algn="l" defTabSz="914400" latinLnBrk="0">
        <a:lnSpc>
          <a:spcPct val="110000"/>
        </a:lnSpc>
        <a:spcBef>
          <a:spcPts val="1200"/>
        </a:spcBef>
        <a:spcAft>
          <a:spcPts val="0"/>
        </a:spcAft>
        <a:buClrTx/>
        <a:buSzPct val="100000"/>
        <a:buFontTx/>
        <a:buChar char="•"/>
        <a:tabLst/>
        <a:defRPr sz="2800" b="0" i="0" u="none" strike="noStrike" cap="none" spc="0" baseline="0">
          <a:solidFill>
            <a:srgbClr val="000000"/>
          </a:solidFill>
          <a:uFillTx/>
          <a:latin typeface="Aptos"/>
          <a:ea typeface="Aptos"/>
          <a:cs typeface="Aptos"/>
          <a:sym typeface="Aptos"/>
        </a:defRPr>
      </a:lvl5pPr>
      <a:lvl6pPr marL="1879600" marR="0" indent="-355600" algn="l" defTabSz="914400" latinLnBrk="0">
        <a:lnSpc>
          <a:spcPct val="110000"/>
        </a:lnSpc>
        <a:spcBef>
          <a:spcPts val="1200"/>
        </a:spcBef>
        <a:spcAft>
          <a:spcPts val="0"/>
        </a:spcAft>
        <a:buClrTx/>
        <a:buSzPct val="100000"/>
        <a:buFontTx/>
        <a:buChar char="•"/>
        <a:tabLst/>
        <a:defRPr sz="2800" b="0" i="0" u="none" strike="noStrike" cap="none" spc="0" baseline="0">
          <a:solidFill>
            <a:srgbClr val="000000"/>
          </a:solidFill>
          <a:uFillTx/>
          <a:latin typeface="Aptos"/>
          <a:ea typeface="Aptos"/>
          <a:cs typeface="Aptos"/>
          <a:sym typeface="Aptos"/>
        </a:defRPr>
      </a:lvl6pPr>
      <a:lvl7pPr marL="2184400" marR="0" indent="-355600" algn="l" defTabSz="914400" latinLnBrk="0">
        <a:lnSpc>
          <a:spcPct val="110000"/>
        </a:lnSpc>
        <a:spcBef>
          <a:spcPts val="1200"/>
        </a:spcBef>
        <a:spcAft>
          <a:spcPts val="0"/>
        </a:spcAft>
        <a:buClrTx/>
        <a:buSzPct val="100000"/>
        <a:buFontTx/>
        <a:buChar char="•"/>
        <a:tabLst/>
        <a:defRPr sz="2800" b="0" i="0" u="none" strike="noStrike" cap="none" spc="0" baseline="0">
          <a:solidFill>
            <a:srgbClr val="000000"/>
          </a:solidFill>
          <a:uFillTx/>
          <a:latin typeface="Aptos"/>
          <a:ea typeface="Aptos"/>
          <a:cs typeface="Aptos"/>
          <a:sym typeface="Aptos"/>
        </a:defRPr>
      </a:lvl7pPr>
      <a:lvl8pPr marL="2489200" marR="0" indent="-355600" algn="l" defTabSz="914400" latinLnBrk="0">
        <a:lnSpc>
          <a:spcPct val="110000"/>
        </a:lnSpc>
        <a:spcBef>
          <a:spcPts val="1200"/>
        </a:spcBef>
        <a:spcAft>
          <a:spcPts val="0"/>
        </a:spcAft>
        <a:buClrTx/>
        <a:buSzPct val="100000"/>
        <a:buFontTx/>
        <a:buChar char="•"/>
        <a:tabLst/>
        <a:defRPr sz="2800" b="0" i="0" u="none" strike="noStrike" cap="none" spc="0" baseline="0">
          <a:solidFill>
            <a:srgbClr val="000000"/>
          </a:solidFill>
          <a:uFillTx/>
          <a:latin typeface="Aptos"/>
          <a:ea typeface="Aptos"/>
          <a:cs typeface="Aptos"/>
          <a:sym typeface="Aptos"/>
        </a:defRPr>
      </a:lvl8pPr>
      <a:lvl9pPr marL="2794000" marR="0" indent="-355600" algn="l" defTabSz="914400" latinLnBrk="0">
        <a:lnSpc>
          <a:spcPct val="110000"/>
        </a:lnSpc>
        <a:spcBef>
          <a:spcPts val="1200"/>
        </a:spcBef>
        <a:spcAft>
          <a:spcPts val="0"/>
        </a:spcAft>
        <a:buClrTx/>
        <a:buSzPct val="100000"/>
        <a:buFontTx/>
        <a:buChar char="•"/>
        <a:tabLst/>
        <a:defRPr sz="2800" b="0" i="0" u="none" strike="noStrike" cap="none" spc="0" baseline="0">
          <a:solidFill>
            <a:srgbClr val="000000"/>
          </a:solidFill>
          <a:uFillTx/>
          <a:latin typeface="Aptos"/>
          <a:ea typeface="Aptos"/>
          <a:cs typeface="Aptos"/>
          <a:sym typeface="Aptos"/>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65" name="Rectangle"/>
          <p:cNvSpPr/>
          <p:nvPr/>
        </p:nvSpPr>
        <p:spPr>
          <a:xfrm>
            <a:off x="0" y="0"/>
            <a:ext cx="228600" cy="6858000"/>
          </a:xfrm>
          <a:prstGeom prst="rect">
            <a:avLst/>
          </a:prstGeom>
          <a:solidFill>
            <a:srgbClr val="2F75B5"/>
          </a:solidFill>
          <a:ln w="12700">
            <a:miter lim="400000"/>
          </a:ln>
        </p:spPr>
        <p:txBody>
          <a:bodyPr lIns="0" tIns="0" rIns="0" bIns="0"/>
          <a:lstStyle/>
          <a:p>
            <a:endParaRPr/>
          </a:p>
        </p:txBody>
      </p:sp>
      <p:sp>
        <p:nvSpPr>
          <p:cNvPr id="66" name="FINAL PROJECT | NATURAL LANGUAGE PROCESSING (NLP) &amp; THE INVESTMENT PROCESS"/>
          <p:cNvSpPr txBox="1"/>
          <p:nvPr/>
        </p:nvSpPr>
        <p:spPr>
          <a:xfrm>
            <a:off x="731519" y="666750"/>
            <a:ext cx="5242561" cy="218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800">
                <a:solidFill>
                  <a:srgbClr val="2F75B5"/>
                </a:solidFill>
              </a:defRPr>
            </a:lvl1pPr>
          </a:lstStyle>
          <a:p>
            <a:r>
              <a:t>FINAL PROJECT | NATURAL LANGUAGE PROCESSING (NLP) &amp; THE INVESTMENT PROCESS</a:t>
            </a:r>
          </a:p>
        </p:txBody>
      </p:sp>
      <p:sp>
        <p:nvSpPr>
          <p:cNvPr id="67" name="When consumer sentiment…"/>
          <p:cNvSpPr txBox="1"/>
          <p:nvPr/>
        </p:nvSpPr>
        <p:spPr>
          <a:xfrm>
            <a:off x="731519" y="1257300"/>
            <a:ext cx="7147561" cy="1107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3300">
                <a:solidFill>
                  <a:srgbClr val="17365D"/>
                </a:solidFill>
              </a:defRPr>
            </a:pPr>
            <a:r>
              <a:t>When consumer sentiment</a:t>
            </a:r>
          </a:p>
          <a:p>
            <a:pPr>
              <a:defRPr sz="3300">
                <a:solidFill>
                  <a:srgbClr val="17365D"/>
                </a:solidFill>
              </a:defRPr>
            </a:pPr>
            <a:r>
              <a:t>diverges from macro data</a:t>
            </a:r>
          </a:p>
        </p:txBody>
      </p:sp>
      <p:sp>
        <p:nvSpPr>
          <p:cNvPr id="68" name="A model-risk framework for consumer-sensitive forecasting"/>
          <p:cNvSpPr txBox="1"/>
          <p:nvPr/>
        </p:nvSpPr>
        <p:spPr>
          <a:xfrm>
            <a:off x="731519" y="2781300"/>
            <a:ext cx="6576061" cy="370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5B6573"/>
                </a:solidFill>
              </a:defRPr>
            </a:lvl1pPr>
          </a:lstStyle>
          <a:p>
            <a:r>
              <a:t>A model-risk framework for consumer-sensitive forecasting</a:t>
            </a:r>
          </a:p>
        </p:txBody>
      </p:sp>
      <p:sp>
        <p:nvSpPr>
          <p:cNvPr id="69" name="Rectangle"/>
          <p:cNvSpPr/>
          <p:nvPr/>
        </p:nvSpPr>
        <p:spPr>
          <a:xfrm>
            <a:off x="685800" y="3762375"/>
            <a:ext cx="4095750" cy="28575"/>
          </a:xfrm>
          <a:prstGeom prst="rect">
            <a:avLst/>
          </a:prstGeom>
          <a:solidFill>
            <a:srgbClr val="2F75B5"/>
          </a:solidFill>
          <a:ln w="12700">
            <a:miter lim="400000"/>
          </a:ln>
        </p:spPr>
        <p:txBody>
          <a:bodyPr lIns="0" tIns="0" rIns="0" bIns="0"/>
          <a:lstStyle/>
          <a:p>
            <a:endParaRPr/>
          </a:p>
        </p:txBody>
      </p:sp>
      <p:sp>
        <p:nvSpPr>
          <p:cNvPr id="70" name="Research report and presentation"/>
          <p:cNvSpPr txBox="1"/>
          <p:nvPr/>
        </p:nvSpPr>
        <p:spPr>
          <a:xfrm>
            <a:off x="731519" y="3943350"/>
            <a:ext cx="4385311"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Research report and presentation</a:t>
            </a:r>
          </a:p>
        </p:txBody>
      </p:sp>
      <p:sp>
        <p:nvSpPr>
          <p:cNvPr id="71" name="Alan Wang"/>
          <p:cNvSpPr txBox="1"/>
          <p:nvPr/>
        </p:nvSpPr>
        <p:spPr>
          <a:xfrm>
            <a:off x="731519" y="4257675"/>
            <a:ext cx="371856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365D"/>
                </a:solidFill>
              </a:defRPr>
            </a:lvl1pPr>
          </a:lstStyle>
          <a:p>
            <a:r>
              <a:t>Alan Wang</a:t>
            </a:r>
          </a:p>
        </p:txBody>
      </p:sp>
      <p:sp>
        <p:nvSpPr>
          <p:cNvPr id="72" name="Analysis cutoff: October 14, 2026"/>
          <p:cNvSpPr txBox="1"/>
          <p:nvPr/>
        </p:nvSpPr>
        <p:spPr>
          <a:xfrm>
            <a:off x="731519" y="4572000"/>
            <a:ext cx="371856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5B6573"/>
                </a:solidFill>
              </a:defRPr>
            </a:lvl1pPr>
          </a:lstStyle>
          <a:p>
            <a:r>
              <a:t>Analysis cutoff: October 14, 2026</a:t>
            </a:r>
          </a:p>
        </p:txBody>
      </p:sp>
      <p:sp>
        <p:nvSpPr>
          <p:cNvPr id="73" name="Practical question"/>
          <p:cNvSpPr txBox="1"/>
          <p:nvPr/>
        </p:nvSpPr>
        <p:spPr>
          <a:xfrm>
            <a:off x="7570469" y="1676400"/>
            <a:ext cx="2385061" cy="231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900">
                <a:solidFill>
                  <a:srgbClr val="2F75B5"/>
                </a:solidFill>
              </a:defRPr>
            </a:lvl1pPr>
          </a:lstStyle>
          <a:p>
            <a:r>
              <a:t>Practical question</a:t>
            </a:r>
          </a:p>
        </p:txBody>
      </p:sp>
      <p:sp>
        <p:nvSpPr>
          <p:cNvPr id="74" name="Should weak consumer sentiment change a forecast, or should it first change the analyst’s uncertainty assessment?"/>
          <p:cNvSpPr txBox="1"/>
          <p:nvPr/>
        </p:nvSpPr>
        <p:spPr>
          <a:xfrm>
            <a:off x="7570469" y="2047875"/>
            <a:ext cx="3194686" cy="15519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900">
                <a:solidFill>
                  <a:srgbClr val="17365D"/>
                </a:solidFill>
              </a:defRPr>
            </a:lvl1pPr>
          </a:lstStyle>
          <a:p>
            <a:r>
              <a:t>Should weak consumer sentiment change a forecast, or should it first change the analyst’s uncertainty assessment?</a:t>
            </a:r>
          </a:p>
        </p:txBody>
      </p:sp>
      <p:sp>
        <p:nvSpPr>
          <p:cNvPr id="75" name="The evidence supports a governed review process before any forecast or risk action."/>
          <p:cNvSpPr txBox="1"/>
          <p:nvPr/>
        </p:nvSpPr>
        <p:spPr>
          <a:xfrm>
            <a:off x="7570469" y="3943350"/>
            <a:ext cx="3099436" cy="701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5B6573"/>
                </a:solidFill>
              </a:defRPr>
            </a:lvl1pPr>
          </a:lstStyle>
          <a:p>
            <a:r>
              <a:t>The evidence supports a governed review process before any forecast or risk action.</a:t>
            </a:r>
          </a:p>
        </p:txBody>
      </p:sp>
      <p:sp>
        <p:nvSpPr>
          <p:cNvPr id="76" name="Based on current implementation and course brief"/>
          <p:cNvSpPr txBox="1"/>
          <p:nvPr/>
        </p:nvSpPr>
        <p:spPr>
          <a:xfrm>
            <a:off x="845819" y="6496050"/>
            <a:ext cx="84810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Based on current implementation and course brief</a:t>
            </a:r>
          </a:p>
        </p:txBody>
      </p:sp>
      <p:sp>
        <p:nvSpPr>
          <p:cNvPr id="77" name="NLP &amp; the Investment Process | October 2026"/>
          <p:cNvSpPr txBox="1"/>
          <p:nvPr/>
        </p:nvSpPr>
        <p:spPr>
          <a:xfrm>
            <a:off x="8618219" y="6496050"/>
            <a:ext cx="28422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NLP &amp; the Investment Process | October 2026</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HE DECISION PROBLEM"/>
          <p:cNvSpPr txBox="1"/>
          <p:nvPr/>
        </p:nvSpPr>
        <p:spPr>
          <a:xfrm>
            <a:off x="731519" y="333375"/>
            <a:ext cx="5623561" cy="231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900">
                <a:solidFill>
                  <a:srgbClr val="2F75B5"/>
                </a:solidFill>
              </a:defRPr>
            </a:lvl1pPr>
          </a:lstStyle>
          <a:p>
            <a:r>
              <a:t>THE DECISION PROBLEM</a:t>
            </a:r>
          </a:p>
        </p:txBody>
      </p:sp>
      <p:sp>
        <p:nvSpPr>
          <p:cNvPr id="82" name="A sentiment gap starts a review"/>
          <p:cNvSpPr txBox="1"/>
          <p:nvPr/>
        </p:nvSpPr>
        <p:spPr>
          <a:xfrm>
            <a:off x="731519" y="647700"/>
            <a:ext cx="10386061" cy="459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a:solidFill>
                  <a:srgbClr val="17365D"/>
                </a:solidFill>
              </a:defRPr>
            </a:lvl1pPr>
          </a:lstStyle>
          <a:p>
            <a:r>
              <a:t>A sentiment gap starts a review</a:t>
            </a:r>
          </a:p>
        </p:txBody>
      </p:sp>
      <p:sp>
        <p:nvSpPr>
          <p:cNvPr id="83" name="Rectangle"/>
          <p:cNvSpPr/>
          <p:nvPr/>
        </p:nvSpPr>
        <p:spPr>
          <a:xfrm>
            <a:off x="685800" y="1438275"/>
            <a:ext cx="10820400" cy="19050"/>
          </a:xfrm>
          <a:prstGeom prst="rect">
            <a:avLst/>
          </a:prstGeom>
          <a:solidFill>
            <a:srgbClr val="2F75B5"/>
          </a:solidFill>
          <a:ln w="12700">
            <a:miter lim="400000"/>
          </a:ln>
        </p:spPr>
        <p:txBody>
          <a:bodyPr lIns="0" tIns="0" rIns="0" bIns="0"/>
          <a:lstStyle/>
          <a:p>
            <a:endParaRPr/>
          </a:p>
        </p:txBody>
      </p:sp>
      <p:sp>
        <p:nvSpPr>
          <p:cNvPr id="84" name="02"/>
          <p:cNvSpPr txBox="1"/>
          <p:nvPr/>
        </p:nvSpPr>
        <p:spPr>
          <a:xfrm>
            <a:off x="11142344" y="333375"/>
            <a:ext cx="308611" cy="218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800">
                <a:solidFill>
                  <a:srgbClr val="5B6573"/>
                </a:solidFill>
              </a:defRPr>
            </a:lvl1pPr>
          </a:lstStyle>
          <a:p>
            <a:r>
              <a:t>02</a:t>
            </a:r>
          </a:p>
        </p:txBody>
      </p:sp>
      <p:sp>
        <p:nvSpPr>
          <p:cNvPr id="85" name="Before changing a forecast, an analyst needs to consider three explanations."/>
          <p:cNvSpPr txBox="1"/>
          <p:nvPr/>
        </p:nvSpPr>
        <p:spPr>
          <a:xfrm>
            <a:off x="731519" y="1619250"/>
            <a:ext cx="8004811" cy="345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700">
                <a:solidFill>
                  <a:srgbClr val="172033"/>
                </a:solidFill>
              </a:defRPr>
            </a:lvl1pPr>
          </a:lstStyle>
          <a:p>
            <a:r>
              <a:t>Before changing a forecast, an analyst needs to consider three explanations.</a:t>
            </a:r>
          </a:p>
        </p:txBody>
      </p:sp>
      <p:sp>
        <p:nvSpPr>
          <p:cNvPr id="86" name="Rectangle"/>
          <p:cNvSpPr/>
          <p:nvPr/>
        </p:nvSpPr>
        <p:spPr>
          <a:xfrm>
            <a:off x="685800" y="2381250"/>
            <a:ext cx="3048000" cy="2095500"/>
          </a:xfrm>
          <a:prstGeom prst="rect">
            <a:avLst/>
          </a:prstGeom>
          <a:solidFill>
            <a:srgbClr val="F5F8FB"/>
          </a:solidFill>
          <a:ln>
            <a:solidFill>
              <a:srgbClr val="D9E2F3"/>
            </a:solidFill>
          </a:ln>
        </p:spPr>
        <p:txBody>
          <a:bodyPr lIns="0" tIns="0" rIns="0" bIns="0"/>
          <a:lstStyle/>
          <a:p>
            <a:endParaRPr/>
          </a:p>
        </p:txBody>
      </p:sp>
      <p:sp>
        <p:nvSpPr>
          <p:cNvPr id="87" name="1"/>
          <p:cNvSpPr txBox="1"/>
          <p:nvPr/>
        </p:nvSpPr>
        <p:spPr>
          <a:xfrm>
            <a:off x="960119" y="2581275"/>
            <a:ext cx="213361" cy="3835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900">
                <a:solidFill>
                  <a:srgbClr val="2F75B5"/>
                </a:solidFill>
              </a:defRPr>
            </a:lvl1pPr>
          </a:lstStyle>
          <a:p>
            <a:r>
              <a:t>1</a:t>
            </a:r>
          </a:p>
        </p:txBody>
      </p:sp>
      <p:sp>
        <p:nvSpPr>
          <p:cNvPr id="88" name="Household pressures"/>
          <p:cNvSpPr txBox="1"/>
          <p:nvPr/>
        </p:nvSpPr>
        <p:spPr>
          <a:xfrm>
            <a:off x="960119" y="3038475"/>
            <a:ext cx="2480312" cy="332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solidFill>
                  <a:srgbClr val="17365D"/>
                </a:solidFill>
              </a:defRPr>
            </a:lvl1pPr>
          </a:lstStyle>
          <a:p>
            <a:r>
              <a:t>Household pressures</a:t>
            </a:r>
          </a:p>
        </p:txBody>
      </p:sp>
      <p:sp>
        <p:nvSpPr>
          <p:cNvPr id="89" name="Broader unemployment, prices, debt, income, housing costs, and uncertainty can differ from headline growth."/>
          <p:cNvSpPr txBox="1"/>
          <p:nvPr/>
        </p:nvSpPr>
        <p:spPr>
          <a:xfrm>
            <a:off x="960119" y="3648075"/>
            <a:ext cx="2480312" cy="751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100">
                <a:solidFill>
                  <a:srgbClr val="5B6573"/>
                </a:solidFill>
              </a:defRPr>
            </a:lvl1pPr>
          </a:lstStyle>
          <a:p>
            <a:r>
              <a:t>Broader unemployment, prices, debt, income, housing costs, and uncertainty can differ from headline growth.</a:t>
            </a:r>
          </a:p>
        </p:txBody>
      </p:sp>
      <p:sp>
        <p:nvSpPr>
          <p:cNvPr id="90" name="Rectangle"/>
          <p:cNvSpPr/>
          <p:nvPr/>
        </p:nvSpPr>
        <p:spPr>
          <a:xfrm>
            <a:off x="4143375" y="2381250"/>
            <a:ext cx="3048000" cy="2095500"/>
          </a:xfrm>
          <a:prstGeom prst="rect">
            <a:avLst/>
          </a:prstGeom>
          <a:solidFill>
            <a:srgbClr val="F5F8FB"/>
          </a:solidFill>
          <a:ln>
            <a:solidFill>
              <a:srgbClr val="D9E2F3"/>
            </a:solidFill>
          </a:ln>
        </p:spPr>
        <p:txBody>
          <a:bodyPr lIns="0" tIns="0" rIns="0" bIns="0"/>
          <a:lstStyle/>
          <a:p>
            <a:endParaRPr/>
          </a:p>
        </p:txBody>
      </p:sp>
      <p:sp>
        <p:nvSpPr>
          <p:cNvPr id="91" name="2"/>
          <p:cNvSpPr txBox="1"/>
          <p:nvPr/>
        </p:nvSpPr>
        <p:spPr>
          <a:xfrm>
            <a:off x="4417695" y="2581275"/>
            <a:ext cx="213361" cy="3835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900">
                <a:solidFill>
                  <a:srgbClr val="2F75B5"/>
                </a:solidFill>
              </a:defRPr>
            </a:lvl1pPr>
          </a:lstStyle>
          <a:p>
            <a:r>
              <a:t>2</a:t>
            </a:r>
          </a:p>
        </p:txBody>
      </p:sp>
      <p:sp>
        <p:nvSpPr>
          <p:cNvPr id="92" name="Narratives and framing"/>
          <p:cNvSpPr txBox="1"/>
          <p:nvPr/>
        </p:nvSpPr>
        <p:spPr>
          <a:xfrm>
            <a:off x="4417695" y="3038475"/>
            <a:ext cx="2480311" cy="332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solidFill>
                  <a:srgbClr val="17365D"/>
                </a:solidFill>
              </a:defRPr>
            </a:lvl1pPr>
          </a:lstStyle>
          <a:p>
            <a:r>
              <a:t>Narratives and framing</a:t>
            </a:r>
          </a:p>
        </p:txBody>
      </p:sp>
      <p:sp>
        <p:nvSpPr>
          <p:cNvPr id="93" name="We can measure tone and framing in content. Text cannot show exposure or belief."/>
          <p:cNvSpPr txBox="1"/>
          <p:nvPr/>
        </p:nvSpPr>
        <p:spPr>
          <a:xfrm>
            <a:off x="4417695" y="3648075"/>
            <a:ext cx="2480311" cy="586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100">
                <a:solidFill>
                  <a:srgbClr val="5B6573"/>
                </a:solidFill>
              </a:defRPr>
            </a:lvl1pPr>
          </a:lstStyle>
          <a:p>
            <a:r>
              <a:t>We can measure tone and framing in content. Text cannot show exposure or belief.</a:t>
            </a:r>
          </a:p>
        </p:txBody>
      </p:sp>
      <p:sp>
        <p:nvSpPr>
          <p:cNvPr id="94" name="Rectangle"/>
          <p:cNvSpPr/>
          <p:nvPr/>
        </p:nvSpPr>
        <p:spPr>
          <a:xfrm>
            <a:off x="7600950" y="2381250"/>
            <a:ext cx="3048000" cy="2095500"/>
          </a:xfrm>
          <a:prstGeom prst="rect">
            <a:avLst/>
          </a:prstGeom>
          <a:solidFill>
            <a:srgbClr val="F5F8FB"/>
          </a:solidFill>
          <a:ln>
            <a:solidFill>
              <a:srgbClr val="D9E2F3"/>
            </a:solidFill>
          </a:ln>
        </p:spPr>
        <p:txBody>
          <a:bodyPr lIns="0" tIns="0" rIns="0" bIns="0"/>
          <a:lstStyle/>
          <a:p>
            <a:endParaRPr/>
          </a:p>
        </p:txBody>
      </p:sp>
      <p:sp>
        <p:nvSpPr>
          <p:cNvPr id="95" name="3"/>
          <p:cNvSpPr txBox="1"/>
          <p:nvPr/>
        </p:nvSpPr>
        <p:spPr>
          <a:xfrm>
            <a:off x="7875269" y="2581275"/>
            <a:ext cx="213361" cy="3835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900">
                <a:solidFill>
                  <a:srgbClr val="2F75B5"/>
                </a:solidFill>
              </a:defRPr>
            </a:lvl1pPr>
          </a:lstStyle>
          <a:p>
            <a:r>
              <a:t>3</a:t>
            </a:r>
          </a:p>
        </p:txBody>
      </p:sp>
      <p:sp>
        <p:nvSpPr>
          <p:cNvPr id="96" name="Timing and model limits"/>
          <p:cNvSpPr txBox="1"/>
          <p:nvPr/>
        </p:nvSpPr>
        <p:spPr>
          <a:xfrm>
            <a:off x="7875269" y="3038475"/>
            <a:ext cx="2480311" cy="332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solidFill>
                  <a:srgbClr val="17365D"/>
                </a:solidFill>
              </a:defRPr>
            </a:lvl1pPr>
          </a:lstStyle>
          <a:p>
            <a:r>
              <a:t>Timing and model limits</a:t>
            </a:r>
          </a:p>
        </p:txBody>
      </p:sp>
      <p:sp>
        <p:nvSpPr>
          <p:cNvPr id="97" name="Release timing, revisions, survey changes, and a short sample can create an apparent gap."/>
          <p:cNvSpPr txBox="1"/>
          <p:nvPr/>
        </p:nvSpPr>
        <p:spPr>
          <a:xfrm>
            <a:off x="7875269" y="3648075"/>
            <a:ext cx="2480311" cy="586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100">
                <a:solidFill>
                  <a:srgbClr val="5B6573"/>
                </a:solidFill>
              </a:defRPr>
            </a:lvl1pPr>
          </a:lstStyle>
          <a:p>
            <a:r>
              <a:t>Release timing, revisions, survey changes, and a short sample can create an apparent gap.</a:t>
            </a:r>
          </a:p>
        </p:txBody>
      </p:sp>
      <p:sp>
        <p:nvSpPr>
          <p:cNvPr id="98" name="When sentiment is below the model prediction, the gap signals uncertainty. The review may revise the forecast, widen its range, or take no action."/>
          <p:cNvSpPr txBox="1"/>
          <p:nvPr/>
        </p:nvSpPr>
        <p:spPr>
          <a:xfrm>
            <a:off x="731519" y="5095875"/>
            <a:ext cx="10005061" cy="548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500">
                <a:solidFill>
                  <a:srgbClr val="17365D"/>
                </a:solidFill>
              </a:defRPr>
            </a:lvl1pPr>
          </a:lstStyle>
          <a:p>
            <a:r>
              <a:t>When sentiment is below the model prediction, the gap signals uncertainty. The review may revise the forecast, widen its range, or take no action.</a:t>
            </a:r>
          </a:p>
        </p:txBody>
      </p:sp>
      <p:sp>
        <p:nvSpPr>
          <p:cNvPr id="99" name="Source: Final Project Applications in Finance brief; project README"/>
          <p:cNvSpPr txBox="1"/>
          <p:nvPr/>
        </p:nvSpPr>
        <p:spPr>
          <a:xfrm>
            <a:off x="845819" y="6496050"/>
            <a:ext cx="84810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Source: Final Project Applications in Finance brief; project README</a:t>
            </a:r>
          </a:p>
        </p:txBody>
      </p:sp>
      <p:sp>
        <p:nvSpPr>
          <p:cNvPr id="100" name="NLP &amp; the Investment Process | October 2026"/>
          <p:cNvSpPr txBox="1"/>
          <p:nvPr/>
        </p:nvSpPr>
        <p:spPr>
          <a:xfrm>
            <a:off x="8618219" y="6496050"/>
            <a:ext cx="28422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NLP &amp; the Investment Process | October 2026</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ESTABLISH THE EVIDENCE"/>
          <p:cNvSpPr txBox="1"/>
          <p:nvPr/>
        </p:nvSpPr>
        <p:spPr>
          <a:xfrm>
            <a:off x="731519" y="333375"/>
            <a:ext cx="5623561" cy="231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900">
                <a:solidFill>
                  <a:srgbClr val="2F75B5"/>
                </a:solidFill>
              </a:defRPr>
            </a:lvl1pPr>
          </a:lstStyle>
          <a:p>
            <a:r>
              <a:t>ESTABLISH THE EVIDENCE</a:t>
            </a:r>
          </a:p>
        </p:txBody>
      </p:sp>
      <p:sp>
        <p:nvSpPr>
          <p:cNvPr id="105" name="The baseline uses information available on the decision date"/>
          <p:cNvSpPr txBox="1"/>
          <p:nvPr/>
        </p:nvSpPr>
        <p:spPr>
          <a:xfrm>
            <a:off x="731519" y="647700"/>
            <a:ext cx="10386061" cy="459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a:solidFill>
                  <a:srgbClr val="17365D"/>
                </a:solidFill>
              </a:defRPr>
            </a:lvl1pPr>
          </a:lstStyle>
          <a:p>
            <a:r>
              <a:t>The baseline uses information available on the decision date</a:t>
            </a:r>
          </a:p>
        </p:txBody>
      </p:sp>
      <p:sp>
        <p:nvSpPr>
          <p:cNvPr id="106" name="Rectangle"/>
          <p:cNvSpPr/>
          <p:nvPr/>
        </p:nvSpPr>
        <p:spPr>
          <a:xfrm>
            <a:off x="685800" y="1438275"/>
            <a:ext cx="10820400" cy="19050"/>
          </a:xfrm>
          <a:prstGeom prst="rect">
            <a:avLst/>
          </a:prstGeom>
          <a:solidFill>
            <a:srgbClr val="2F75B5"/>
          </a:solidFill>
          <a:ln w="12700">
            <a:miter lim="400000"/>
          </a:ln>
        </p:spPr>
        <p:txBody>
          <a:bodyPr lIns="0" tIns="0" rIns="0" bIns="0"/>
          <a:lstStyle/>
          <a:p>
            <a:endParaRPr/>
          </a:p>
        </p:txBody>
      </p:sp>
      <p:sp>
        <p:nvSpPr>
          <p:cNvPr id="107" name="03"/>
          <p:cNvSpPr txBox="1"/>
          <p:nvPr/>
        </p:nvSpPr>
        <p:spPr>
          <a:xfrm>
            <a:off x="11142344" y="333375"/>
            <a:ext cx="308611" cy="218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800">
                <a:solidFill>
                  <a:srgbClr val="5B6573"/>
                </a:solidFill>
              </a:defRPr>
            </a:lvl1pPr>
          </a:lstStyle>
          <a:p>
            <a:r>
              <a:t>03</a:t>
            </a:r>
          </a:p>
        </p:txBody>
      </p:sp>
      <p:sp>
        <p:nvSpPr>
          <p:cNvPr id="108" name="Interpretation: a forecast should be tested against the information available when the decision was made, not against later revisions."/>
          <p:cNvSpPr txBox="1"/>
          <p:nvPr/>
        </p:nvSpPr>
        <p:spPr>
          <a:xfrm>
            <a:off x="731519" y="4457700"/>
            <a:ext cx="10195561" cy="231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900">
                <a:solidFill>
                  <a:srgbClr val="17365D"/>
                </a:solidFill>
              </a:defRPr>
            </a:lvl1pPr>
          </a:lstStyle>
          <a:p>
            <a:r>
              <a:t>Interpretation: a forecast should be tested against the information available when the decision was made, not against later revisions.</a:t>
            </a:r>
          </a:p>
        </p:txBody>
      </p:sp>
      <p:graphicFrame>
        <p:nvGraphicFramePr>
          <p:cNvPr id="109" name="Table 1"/>
          <p:cNvGraphicFramePr/>
          <p:nvPr/>
        </p:nvGraphicFramePr>
        <p:xfrm>
          <a:off x="685800" y="1638300"/>
          <a:ext cx="10820400" cy="2724150"/>
        </p:xfrm>
        <a:graphic>
          <a:graphicData uri="http://schemas.openxmlformats.org/drawingml/2006/table">
            <a:tbl>
              <a:tblPr firstRow="1">
                <a:tableStyleId>{4C3C2611-4C71-4FC5-86AE-919BDF0F9419}</a:tableStyleId>
              </a:tblPr>
              <a:tblGrid>
                <a:gridCol w="1809750">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gridCol w="4533900">
                  <a:extLst>
                    <a:ext uri="{9D8B030D-6E8A-4147-A177-3AD203B41FA5}">
                      <a16:colId xmlns:a16="http://schemas.microsoft.com/office/drawing/2014/main" val="20002"/>
                    </a:ext>
                  </a:extLst>
                </a:gridCol>
              </a:tblGrid>
              <a:tr h="544830">
                <a:tc>
                  <a:txBody>
                    <a:bodyPr/>
                    <a:lstStyle/>
                    <a:p>
                      <a:pPr algn="l">
                        <a:defRPr sz="1800" b="0">
                          <a:solidFill>
                            <a:srgbClr val="000000"/>
                          </a:solidFill>
                        </a:defRPr>
                      </a:pPr>
                      <a:r>
                        <a:rPr sz="900" b="1">
                          <a:solidFill>
                            <a:srgbClr val="FFFFFF"/>
                          </a:solidFill>
                          <a:sym typeface="Aptos"/>
                        </a:rPr>
                        <a:t>Layer</a:t>
                      </a:r>
                    </a:p>
                  </a:txBody>
                  <a:tcPr marL="45720" marR="45720" horzOverflow="overflow">
                    <a:lnL>
                      <a:solidFill>
                        <a:srgbClr val="D9E2F3"/>
                      </a:solidFill>
                    </a:lnL>
                    <a:lnR>
                      <a:solidFill>
                        <a:srgbClr val="D9E2F3"/>
                      </a:solidFill>
                    </a:lnR>
                    <a:lnT>
                      <a:solidFill>
                        <a:srgbClr val="D9E2F3"/>
                      </a:solidFill>
                    </a:lnT>
                    <a:lnB>
                      <a:solidFill>
                        <a:srgbClr val="D9E2F3"/>
                      </a:solidFill>
                    </a:lnB>
                    <a:solidFill>
                      <a:srgbClr val="17365D"/>
                    </a:solidFill>
                  </a:tcPr>
                </a:tc>
                <a:tc>
                  <a:txBody>
                    <a:bodyPr/>
                    <a:lstStyle/>
                    <a:p>
                      <a:pPr algn="l">
                        <a:defRPr sz="1800" b="0">
                          <a:solidFill>
                            <a:srgbClr val="000000"/>
                          </a:solidFill>
                        </a:defRPr>
                      </a:pPr>
                      <a:r>
                        <a:rPr sz="900" b="1">
                          <a:solidFill>
                            <a:srgbClr val="FFFFFF"/>
                          </a:solidFill>
                          <a:sym typeface="Aptos"/>
                        </a:rPr>
                        <a:t>Implementation</a:t>
                      </a:r>
                    </a:p>
                  </a:txBody>
                  <a:tcPr marL="45720" marR="45720" horzOverflow="overflow">
                    <a:lnL>
                      <a:solidFill>
                        <a:srgbClr val="D9E2F3"/>
                      </a:solidFill>
                    </a:lnL>
                    <a:lnR>
                      <a:solidFill>
                        <a:srgbClr val="D9E2F3"/>
                      </a:solidFill>
                    </a:lnR>
                    <a:lnT>
                      <a:solidFill>
                        <a:srgbClr val="D9E2F3"/>
                      </a:solidFill>
                    </a:lnT>
                    <a:lnB>
                      <a:solidFill>
                        <a:srgbClr val="D9E2F3"/>
                      </a:solidFill>
                    </a:lnB>
                    <a:solidFill>
                      <a:srgbClr val="17365D"/>
                    </a:solidFill>
                  </a:tcPr>
                </a:tc>
                <a:tc>
                  <a:txBody>
                    <a:bodyPr/>
                    <a:lstStyle/>
                    <a:p>
                      <a:pPr algn="l">
                        <a:defRPr sz="1800" b="0">
                          <a:solidFill>
                            <a:srgbClr val="000000"/>
                          </a:solidFill>
                        </a:defRPr>
                      </a:pPr>
                      <a:r>
                        <a:rPr sz="900" b="1">
                          <a:solidFill>
                            <a:srgbClr val="FFFFFF"/>
                          </a:solidFill>
                          <a:sym typeface="Aptos"/>
                        </a:rPr>
                        <a:t>Interpretation boundary</a:t>
                      </a:r>
                    </a:p>
                  </a:txBody>
                  <a:tcPr marL="45720" marR="45720" horzOverflow="overflow">
                    <a:lnL>
                      <a:solidFill>
                        <a:srgbClr val="D9E2F3"/>
                      </a:solidFill>
                    </a:lnL>
                    <a:lnR>
                      <a:solidFill>
                        <a:srgbClr val="D9E2F3"/>
                      </a:solidFill>
                    </a:lnR>
                    <a:lnT>
                      <a:solidFill>
                        <a:srgbClr val="D9E2F3"/>
                      </a:solidFill>
                    </a:lnT>
                    <a:lnB>
                      <a:solidFill>
                        <a:srgbClr val="D9E2F3"/>
                      </a:solidFill>
                    </a:lnB>
                    <a:solidFill>
                      <a:srgbClr val="17365D"/>
                    </a:solidFill>
                  </a:tcPr>
                </a:tc>
                <a:extLst>
                  <a:ext uri="{0D108BD9-81ED-4DB2-BD59-A6C34878D82A}">
                    <a16:rowId xmlns:a16="http://schemas.microsoft.com/office/drawing/2014/main" val="10000"/>
                  </a:ext>
                </a:extLst>
              </a:tr>
              <a:tr h="544830">
                <a:tc>
                  <a:txBody>
                    <a:bodyPr/>
                    <a:lstStyle/>
                    <a:p>
                      <a:pPr algn="l">
                        <a:defRPr sz="1800"/>
                      </a:pPr>
                      <a:r>
                        <a:rPr sz="900">
                          <a:solidFill>
                            <a:srgbClr val="172033"/>
                          </a:solidFill>
                          <a:sym typeface="Aptos"/>
                        </a:rPr>
                        <a:t>Economic baseline</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tc>
                  <a:txBody>
                    <a:bodyPr/>
                    <a:lstStyle/>
                    <a:p>
                      <a:pPr algn="l">
                        <a:defRPr sz="1800"/>
                      </a:pPr>
                      <a:r>
                        <a:rPr sz="900">
                          <a:solidFill>
                            <a:srgbClr val="172033"/>
                          </a:solidFill>
                          <a:sym typeface="Aptos"/>
                        </a:rPr>
                        <a:t>Michigan sentiment; U-3 unemployment; Personal Consumption Expenditures (PCE) inflation; quarterly real gross domestic product (GDP) growth</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tc>
                  <a:txBody>
                    <a:bodyPr/>
                    <a:lstStyle/>
                    <a:p>
                      <a:pPr algn="l">
                        <a:defRPr sz="1800"/>
                      </a:pPr>
                      <a:r>
                        <a:rPr sz="900">
                          <a:solidFill>
                            <a:srgbClr val="172033"/>
                          </a:solidFill>
                          <a:sym typeface="Aptos"/>
                        </a:rPr>
                        <a:t>Forecasts use only data available at the decision date. GDP remains quarterly.</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extLst>
                  <a:ext uri="{0D108BD9-81ED-4DB2-BD59-A6C34878D82A}">
                    <a16:rowId xmlns:a16="http://schemas.microsoft.com/office/drawing/2014/main" val="10001"/>
                  </a:ext>
                </a:extLst>
              </a:tr>
              <a:tr h="544830">
                <a:tc>
                  <a:txBody>
                    <a:bodyPr/>
                    <a:lstStyle/>
                    <a:p>
                      <a:pPr algn="l">
                        <a:defRPr sz="1800"/>
                      </a:pPr>
                      <a:r>
                        <a:rPr sz="900">
                          <a:solidFill>
                            <a:srgbClr val="172033"/>
                          </a:solidFill>
                          <a:sym typeface="Aptos"/>
                        </a:rPr>
                        <a:t>Broader controls</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tc>
                  <a:txBody>
                    <a:bodyPr/>
                    <a:lstStyle/>
                    <a:p>
                      <a:pPr algn="l">
                        <a:defRPr sz="1800"/>
                      </a:pPr>
                      <a:r>
                        <a:rPr sz="900">
                          <a:solidFill>
                            <a:srgbClr val="172033"/>
                          </a:solidFill>
                          <a:sym typeface="Aptos"/>
                        </a:rPr>
                        <a:t>U-6 underemployment, real income, price growth, debt service, housing affordability, policy uncertainty</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tc>
                  <a:txBody>
                    <a:bodyPr/>
                    <a:lstStyle/>
                    <a:p>
                      <a:pPr algn="l">
                        <a:defRPr sz="1800"/>
                      </a:pPr>
                      <a:r>
                        <a:rPr sz="900">
                          <a:solidFill>
                            <a:srgbClr val="172033"/>
                          </a:solidFill>
                          <a:sym typeface="Aptos"/>
                        </a:rPr>
                        <a:t>Tests whether headline indicators miss household pressures.</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extLst>
                  <a:ext uri="{0D108BD9-81ED-4DB2-BD59-A6C34878D82A}">
                    <a16:rowId xmlns:a16="http://schemas.microsoft.com/office/drawing/2014/main" val="10002"/>
                  </a:ext>
                </a:extLst>
              </a:tr>
              <a:tr h="544830">
                <a:tc>
                  <a:txBody>
                    <a:bodyPr/>
                    <a:lstStyle/>
                    <a:p>
                      <a:pPr algn="l">
                        <a:defRPr sz="1800"/>
                      </a:pPr>
                      <a:r>
                        <a:rPr sz="900">
                          <a:solidFill>
                            <a:srgbClr val="172033"/>
                          </a:solidFill>
                          <a:sym typeface="Aptos"/>
                        </a:rPr>
                        <a:t>Media corpus</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tc>
                  <a:txBody>
                    <a:bodyPr/>
                    <a:lstStyle/>
                    <a:p>
                      <a:pPr algn="l">
                        <a:defRPr sz="1800"/>
                      </a:pPr>
                      <a:r>
                        <a:rPr sz="900">
                          <a:solidFill>
                            <a:srgbClr val="172033"/>
                          </a:solidFill>
                          <a:sym typeface="Aptos"/>
                        </a:rPr>
                        <a:t>16 national/local publishers plus public Mastodon supplement; documented queries, duplicates, and flags</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tc>
                  <a:txBody>
                    <a:bodyPr/>
                    <a:lstStyle/>
                    <a:p>
                      <a:pPr algn="l">
                        <a:defRPr sz="1800"/>
                      </a:pPr>
                      <a:r>
                        <a:rPr sz="900">
                          <a:solidFill>
                            <a:srgbClr val="172033"/>
                          </a:solidFill>
                          <a:sym typeface="Aptos"/>
                        </a:rPr>
                        <a:t>Content supply does not show engagement or respondent exposure.</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extLst>
                  <a:ext uri="{0D108BD9-81ED-4DB2-BD59-A6C34878D82A}">
                    <a16:rowId xmlns:a16="http://schemas.microsoft.com/office/drawing/2014/main" val="10003"/>
                  </a:ext>
                </a:extLst>
              </a:tr>
              <a:tr h="544830">
                <a:tc>
                  <a:txBody>
                    <a:bodyPr/>
                    <a:lstStyle/>
                    <a:p>
                      <a:pPr algn="l">
                        <a:defRPr sz="1800"/>
                      </a:pPr>
                      <a:r>
                        <a:rPr sz="900">
                          <a:solidFill>
                            <a:srgbClr val="172033"/>
                          </a:solidFill>
                          <a:sym typeface="Aptos"/>
                        </a:rPr>
                        <a:t>Measurement</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tc>
                  <a:txBody>
                    <a:bodyPr/>
                    <a:lstStyle/>
                    <a:p>
                      <a:pPr algn="l">
                        <a:defRPr sz="1800"/>
                      </a:pPr>
                      <a:r>
                        <a:rPr sz="900">
                          <a:solidFill>
                            <a:srgbClr val="172033"/>
                          </a:solidFill>
                          <a:sym typeface="Aptos"/>
                        </a:rPr>
                        <a:t>Tone, prominence, framing, fact checks, political attribution</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tc>
                  <a:txBody>
                    <a:bodyPr/>
                    <a:lstStyle/>
                    <a:p>
                      <a:pPr algn="l">
                        <a:defRPr sz="1800"/>
                      </a:pPr>
                      <a:r>
                        <a:rPr sz="900">
                          <a:solidFill>
                            <a:srgbClr val="172033"/>
                          </a:solidFill>
                          <a:sym typeface="Aptos"/>
                        </a:rPr>
                        <a:t>Negative language is not automatically bias.</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extLst>
                  <a:ext uri="{0D108BD9-81ED-4DB2-BD59-A6C34878D82A}">
                    <a16:rowId xmlns:a16="http://schemas.microsoft.com/office/drawing/2014/main" val="10004"/>
                  </a:ext>
                </a:extLst>
              </a:tr>
            </a:tbl>
          </a:graphicData>
        </a:graphic>
      </p:graphicFrame>
      <p:sp>
        <p:nvSpPr>
          <p:cNvPr id="110" name="Narrative measures enter review only after a quality check"/>
          <p:cNvSpPr txBox="1"/>
          <p:nvPr/>
        </p:nvSpPr>
        <p:spPr>
          <a:xfrm>
            <a:off x="731519" y="4781550"/>
            <a:ext cx="5052061" cy="231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900">
                <a:solidFill>
                  <a:srgbClr val="2F75B5"/>
                </a:solidFill>
              </a:defRPr>
            </a:lvl1pPr>
          </a:lstStyle>
          <a:p>
            <a:r>
              <a:t>Narrative measures enter review only after a quality check</a:t>
            </a:r>
          </a:p>
        </p:txBody>
      </p:sp>
      <p:sp>
        <p:nvSpPr>
          <p:cNvPr id="111" name="•"/>
          <p:cNvSpPr txBox="1"/>
          <p:nvPr/>
        </p:nvSpPr>
        <p:spPr>
          <a:xfrm>
            <a:off x="731519" y="512445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t>
            </a:r>
          </a:p>
        </p:txBody>
      </p:sp>
      <p:sp>
        <p:nvSpPr>
          <p:cNvPr id="112" name="Two independent, source-blinded reviewers"/>
          <p:cNvSpPr txBox="1"/>
          <p:nvPr/>
        </p:nvSpPr>
        <p:spPr>
          <a:xfrm>
            <a:off x="998219" y="5124450"/>
            <a:ext cx="926211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2033"/>
                </a:solidFill>
              </a:defRPr>
            </a:lvl1pPr>
          </a:lstStyle>
          <a:p>
            <a:r>
              <a:t>Two independent, source-blinded reviewers</a:t>
            </a:r>
          </a:p>
        </p:txBody>
      </p:sp>
      <p:sp>
        <p:nvSpPr>
          <p:cNvPr id="113" name="•"/>
          <p:cNvSpPr txBox="1"/>
          <p:nvPr/>
        </p:nvSpPr>
        <p:spPr>
          <a:xfrm>
            <a:off x="731519" y="552450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t>
            </a:r>
          </a:p>
        </p:txBody>
      </p:sp>
      <p:sp>
        <p:nvSpPr>
          <p:cNvPr id="114" name="312 paired human tone labels, then a final review"/>
          <p:cNvSpPr txBox="1"/>
          <p:nvPr/>
        </p:nvSpPr>
        <p:spPr>
          <a:xfrm>
            <a:off x="998219" y="5524500"/>
            <a:ext cx="926211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2033"/>
                </a:solidFill>
              </a:defRPr>
            </a:lvl1pPr>
          </a:lstStyle>
          <a:p>
            <a:r>
              <a:t>312 paired human tone labels, then a final review</a:t>
            </a:r>
          </a:p>
        </p:txBody>
      </p:sp>
      <p:sp>
        <p:nvSpPr>
          <p:cNvPr id="115" name="•"/>
          <p:cNvSpPr txBox="1"/>
          <p:nvPr/>
        </p:nvSpPr>
        <p:spPr>
          <a:xfrm>
            <a:off x="731519" y="592455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t>
            </a:r>
          </a:p>
        </p:txBody>
      </p:sp>
      <p:sp>
        <p:nvSpPr>
          <p:cNvPr id="116" name="Dictionary and classifier checks kept for audit"/>
          <p:cNvSpPr txBox="1"/>
          <p:nvPr/>
        </p:nvSpPr>
        <p:spPr>
          <a:xfrm>
            <a:off x="998219" y="5924550"/>
            <a:ext cx="926211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2033"/>
                </a:solidFill>
              </a:defRPr>
            </a:lvl1pPr>
          </a:lstStyle>
          <a:p>
            <a:r>
              <a:t>Dictionary and classifier checks kept for audit</a:t>
            </a:r>
          </a:p>
        </p:txBody>
      </p:sp>
      <p:sp>
        <p:nvSpPr>
          <p:cNvPr id="117" name="Source files: data README; corpus README; AI measurement validation protocol"/>
          <p:cNvSpPr txBox="1"/>
          <p:nvPr/>
        </p:nvSpPr>
        <p:spPr>
          <a:xfrm>
            <a:off x="845819" y="6496050"/>
            <a:ext cx="84810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Source files: data README; corpus README; AI measurement validation protocol</a:t>
            </a:r>
          </a:p>
        </p:txBody>
      </p:sp>
      <p:sp>
        <p:nvSpPr>
          <p:cNvPr id="118" name="NLP &amp; the Investment Process | October 2026"/>
          <p:cNvSpPr txBox="1"/>
          <p:nvPr/>
        </p:nvSpPr>
        <p:spPr>
          <a:xfrm>
            <a:off x="8618219" y="6496050"/>
            <a:ext cx="28422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NLP &amp; the Investment Process | October 2026</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ASSESS MEASUREMENT QUALITY"/>
          <p:cNvSpPr txBox="1"/>
          <p:nvPr/>
        </p:nvSpPr>
        <p:spPr>
          <a:xfrm>
            <a:off x="731519" y="333375"/>
            <a:ext cx="5623561" cy="231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900">
                <a:solidFill>
                  <a:srgbClr val="2F75B5"/>
                </a:solidFill>
              </a:defRPr>
            </a:lvl1pPr>
          </a:lstStyle>
          <a:p>
            <a:r>
              <a:t>ASSESS MEASUREMENT QUALITY</a:t>
            </a:r>
          </a:p>
        </p:txBody>
      </p:sp>
      <p:sp>
        <p:nvSpPr>
          <p:cNvPr id="123" name="Validated narrative measures can support review"/>
          <p:cNvSpPr txBox="1"/>
          <p:nvPr/>
        </p:nvSpPr>
        <p:spPr>
          <a:xfrm>
            <a:off x="731519" y="647700"/>
            <a:ext cx="10386061" cy="459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a:solidFill>
                  <a:srgbClr val="17365D"/>
                </a:solidFill>
              </a:defRPr>
            </a:lvl1pPr>
          </a:lstStyle>
          <a:p>
            <a:r>
              <a:t>Validated narrative measures can support review</a:t>
            </a:r>
          </a:p>
        </p:txBody>
      </p:sp>
      <p:sp>
        <p:nvSpPr>
          <p:cNvPr id="124" name="Rectangle"/>
          <p:cNvSpPr/>
          <p:nvPr/>
        </p:nvSpPr>
        <p:spPr>
          <a:xfrm>
            <a:off x="685800" y="1438275"/>
            <a:ext cx="10820400" cy="19050"/>
          </a:xfrm>
          <a:prstGeom prst="rect">
            <a:avLst/>
          </a:prstGeom>
          <a:solidFill>
            <a:srgbClr val="2F75B5"/>
          </a:solidFill>
          <a:ln w="12700">
            <a:miter lim="400000"/>
          </a:ln>
        </p:spPr>
        <p:txBody>
          <a:bodyPr lIns="0" tIns="0" rIns="0" bIns="0"/>
          <a:lstStyle/>
          <a:p>
            <a:endParaRPr/>
          </a:p>
        </p:txBody>
      </p:sp>
      <p:sp>
        <p:nvSpPr>
          <p:cNvPr id="125" name="04"/>
          <p:cNvSpPr txBox="1"/>
          <p:nvPr/>
        </p:nvSpPr>
        <p:spPr>
          <a:xfrm>
            <a:off x="11142344" y="333375"/>
            <a:ext cx="308611" cy="218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800">
                <a:solidFill>
                  <a:srgbClr val="5B6573"/>
                </a:solidFill>
              </a:defRPr>
            </a:lvl1pPr>
          </a:lstStyle>
          <a:p>
            <a:r>
              <a:t>04</a:t>
            </a:r>
          </a:p>
        </p:txBody>
      </p:sp>
      <p:sp>
        <p:nvSpPr>
          <p:cNvPr id="126" name="Interpretation: agreement is moderate. Use these labels as checked evidence for review, not as automatic decision signals."/>
          <p:cNvSpPr txBox="1"/>
          <p:nvPr/>
        </p:nvSpPr>
        <p:spPr>
          <a:xfrm>
            <a:off x="731519" y="3371850"/>
            <a:ext cx="10195561" cy="243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00">
                <a:solidFill>
                  <a:srgbClr val="17365D"/>
                </a:solidFill>
              </a:defRPr>
            </a:lvl1pPr>
          </a:lstStyle>
          <a:p>
            <a:r>
              <a:t>Interpretation: agreement is moderate. Use these labels as checked evidence for review, not as automatic decision signals.</a:t>
            </a:r>
          </a:p>
        </p:txBody>
      </p:sp>
      <p:sp>
        <p:nvSpPr>
          <p:cNvPr id="127" name="Tone validation"/>
          <p:cNvSpPr txBox="1"/>
          <p:nvPr/>
        </p:nvSpPr>
        <p:spPr>
          <a:xfrm>
            <a:off x="731519" y="1666875"/>
            <a:ext cx="2766062"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Tone validation</a:t>
            </a:r>
          </a:p>
        </p:txBody>
      </p:sp>
      <p:sp>
        <p:nvSpPr>
          <p:cNvPr id="128" name="Rectangle"/>
          <p:cNvSpPr/>
          <p:nvPr/>
        </p:nvSpPr>
        <p:spPr>
          <a:xfrm>
            <a:off x="685800" y="2076450"/>
            <a:ext cx="2305050" cy="1162050"/>
          </a:xfrm>
          <a:prstGeom prst="rect">
            <a:avLst/>
          </a:prstGeom>
          <a:solidFill>
            <a:srgbClr val="F5F8FB"/>
          </a:solidFill>
          <a:ln>
            <a:solidFill>
              <a:srgbClr val="D9E2F3"/>
            </a:solidFill>
          </a:ln>
        </p:spPr>
        <p:txBody>
          <a:bodyPr lIns="0" tIns="0" rIns="0" bIns="0"/>
          <a:lstStyle/>
          <a:p>
            <a:endParaRPr/>
          </a:p>
        </p:txBody>
      </p:sp>
      <p:sp>
        <p:nvSpPr>
          <p:cNvPr id="129" name="312"/>
          <p:cNvSpPr txBox="1"/>
          <p:nvPr/>
        </p:nvSpPr>
        <p:spPr>
          <a:xfrm>
            <a:off x="902969" y="2286000"/>
            <a:ext cx="1861187" cy="4089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100">
                <a:solidFill>
                  <a:srgbClr val="17365D"/>
                </a:solidFill>
              </a:defRPr>
            </a:lvl1pPr>
          </a:lstStyle>
          <a:p>
            <a:r>
              <a:t>312</a:t>
            </a:r>
          </a:p>
        </p:txBody>
      </p:sp>
      <p:sp>
        <p:nvSpPr>
          <p:cNvPr id="130" name="paired independent labels"/>
          <p:cNvSpPr txBox="1"/>
          <p:nvPr/>
        </p:nvSpPr>
        <p:spPr>
          <a:xfrm>
            <a:off x="902969" y="2771775"/>
            <a:ext cx="1861187" cy="243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00">
                <a:solidFill>
                  <a:srgbClr val="5B6573"/>
                </a:solidFill>
              </a:defRPr>
            </a:lvl1pPr>
          </a:lstStyle>
          <a:p>
            <a:r>
              <a:t>paired independent labels</a:t>
            </a:r>
          </a:p>
        </p:txBody>
      </p:sp>
      <p:sp>
        <p:nvSpPr>
          <p:cNvPr id="131" name="Rectangle"/>
          <p:cNvSpPr/>
          <p:nvPr/>
        </p:nvSpPr>
        <p:spPr>
          <a:xfrm>
            <a:off x="3324225" y="2076450"/>
            <a:ext cx="2305050" cy="1162050"/>
          </a:xfrm>
          <a:prstGeom prst="rect">
            <a:avLst/>
          </a:prstGeom>
          <a:solidFill>
            <a:srgbClr val="F5F8FB"/>
          </a:solidFill>
          <a:ln>
            <a:solidFill>
              <a:srgbClr val="D9E2F3"/>
            </a:solidFill>
          </a:ln>
        </p:spPr>
        <p:txBody>
          <a:bodyPr lIns="0" tIns="0" rIns="0" bIns="0"/>
          <a:lstStyle/>
          <a:p>
            <a:endParaRPr/>
          </a:p>
        </p:txBody>
      </p:sp>
      <p:sp>
        <p:nvSpPr>
          <p:cNvPr id="132" name="59.3%"/>
          <p:cNvSpPr txBox="1"/>
          <p:nvPr/>
        </p:nvSpPr>
        <p:spPr>
          <a:xfrm>
            <a:off x="3541395" y="2286000"/>
            <a:ext cx="1861186" cy="4089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100">
                <a:solidFill>
                  <a:srgbClr val="17365D"/>
                </a:solidFill>
              </a:defRPr>
            </a:lvl1pPr>
          </a:lstStyle>
          <a:p>
            <a:r>
              <a:t>59.3%</a:t>
            </a:r>
          </a:p>
        </p:txBody>
      </p:sp>
      <p:sp>
        <p:nvSpPr>
          <p:cNvPr id="133" name="raw tone agreement"/>
          <p:cNvSpPr txBox="1"/>
          <p:nvPr/>
        </p:nvSpPr>
        <p:spPr>
          <a:xfrm>
            <a:off x="3541395" y="2771775"/>
            <a:ext cx="1861186" cy="243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00">
                <a:solidFill>
                  <a:srgbClr val="5B6573"/>
                </a:solidFill>
              </a:defRPr>
            </a:lvl1pPr>
          </a:lstStyle>
          <a:p>
            <a:r>
              <a:t>raw tone agreement</a:t>
            </a:r>
          </a:p>
        </p:txBody>
      </p:sp>
      <p:sp>
        <p:nvSpPr>
          <p:cNvPr id="134" name="Rectangle"/>
          <p:cNvSpPr/>
          <p:nvPr/>
        </p:nvSpPr>
        <p:spPr>
          <a:xfrm>
            <a:off x="5962650" y="2076450"/>
            <a:ext cx="2305050" cy="1162050"/>
          </a:xfrm>
          <a:prstGeom prst="rect">
            <a:avLst/>
          </a:prstGeom>
          <a:solidFill>
            <a:srgbClr val="F5F8FB"/>
          </a:solidFill>
          <a:ln>
            <a:solidFill>
              <a:srgbClr val="D9E2F3"/>
            </a:solidFill>
          </a:ln>
        </p:spPr>
        <p:txBody>
          <a:bodyPr lIns="0" tIns="0" rIns="0" bIns="0"/>
          <a:lstStyle/>
          <a:p>
            <a:endParaRPr/>
          </a:p>
        </p:txBody>
      </p:sp>
      <p:sp>
        <p:nvSpPr>
          <p:cNvPr id="135" name="0.437"/>
          <p:cNvSpPr txBox="1"/>
          <p:nvPr/>
        </p:nvSpPr>
        <p:spPr>
          <a:xfrm>
            <a:off x="6179820" y="2286000"/>
            <a:ext cx="1861186" cy="4089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100">
                <a:solidFill>
                  <a:srgbClr val="17365D"/>
                </a:solidFill>
              </a:defRPr>
            </a:lvl1pPr>
          </a:lstStyle>
          <a:p>
            <a:r>
              <a:t>0.437</a:t>
            </a:r>
          </a:p>
        </p:txBody>
      </p:sp>
      <p:sp>
        <p:nvSpPr>
          <p:cNvPr id="136" name="Cohen kappa"/>
          <p:cNvSpPr txBox="1"/>
          <p:nvPr/>
        </p:nvSpPr>
        <p:spPr>
          <a:xfrm>
            <a:off x="6179820" y="2771775"/>
            <a:ext cx="1861186" cy="243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00">
                <a:solidFill>
                  <a:srgbClr val="5B6573"/>
                </a:solidFill>
              </a:defRPr>
            </a:lvl1pPr>
          </a:lstStyle>
          <a:p>
            <a:r>
              <a:t>Cohen kappa</a:t>
            </a:r>
          </a:p>
        </p:txBody>
      </p:sp>
      <p:sp>
        <p:nvSpPr>
          <p:cNvPr id="137" name="Rectangle"/>
          <p:cNvSpPr/>
          <p:nvPr/>
        </p:nvSpPr>
        <p:spPr>
          <a:xfrm>
            <a:off x="8601075" y="2076450"/>
            <a:ext cx="2305050" cy="1162050"/>
          </a:xfrm>
          <a:prstGeom prst="rect">
            <a:avLst/>
          </a:prstGeom>
          <a:solidFill>
            <a:srgbClr val="F5F8FB"/>
          </a:solidFill>
          <a:ln>
            <a:solidFill>
              <a:srgbClr val="D9E2F3"/>
            </a:solidFill>
          </a:ln>
        </p:spPr>
        <p:txBody>
          <a:bodyPr lIns="0" tIns="0" rIns="0" bIns="0"/>
          <a:lstStyle/>
          <a:p>
            <a:endParaRPr/>
          </a:p>
        </p:txBody>
      </p:sp>
      <p:sp>
        <p:nvSpPr>
          <p:cNvPr id="138" name="0"/>
          <p:cNvSpPr txBox="1"/>
          <p:nvPr/>
        </p:nvSpPr>
        <p:spPr>
          <a:xfrm>
            <a:off x="8818244" y="2286000"/>
            <a:ext cx="1861186" cy="4089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100">
                <a:solidFill>
                  <a:srgbClr val="17365D"/>
                </a:solidFill>
              </a:defRPr>
            </a:lvl1pPr>
          </a:lstStyle>
          <a:p>
            <a:r>
              <a:t>0</a:t>
            </a:r>
          </a:p>
        </p:txBody>
      </p:sp>
      <p:sp>
        <p:nvSpPr>
          <p:cNvPr id="139" name="machine labels in agreement stats"/>
          <p:cNvSpPr txBox="1"/>
          <p:nvPr/>
        </p:nvSpPr>
        <p:spPr>
          <a:xfrm>
            <a:off x="8818244" y="2771775"/>
            <a:ext cx="1861186" cy="396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00">
                <a:solidFill>
                  <a:srgbClr val="5B6573"/>
                </a:solidFill>
              </a:defRPr>
            </a:lvl1pPr>
          </a:lstStyle>
          <a:p>
            <a:r>
              <a:t>machine labels in agreement stats</a:t>
            </a:r>
          </a:p>
        </p:txBody>
      </p:sp>
      <p:sp>
        <p:nvSpPr>
          <p:cNvPr id="140" name="Audit record"/>
          <p:cNvSpPr txBox="1"/>
          <p:nvPr/>
        </p:nvSpPr>
        <p:spPr>
          <a:xfrm>
            <a:off x="731519" y="3790950"/>
            <a:ext cx="390906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Audit record</a:t>
            </a:r>
          </a:p>
        </p:txBody>
      </p:sp>
      <p:sp>
        <p:nvSpPr>
          <p:cNvPr id="141" name="•"/>
          <p:cNvSpPr txBox="1"/>
          <p:nvPr/>
        </p:nvSpPr>
        <p:spPr>
          <a:xfrm>
            <a:off x="731519" y="417195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2F75B5"/>
                </a:solidFill>
              </a:defRPr>
            </a:lvl1pPr>
          </a:lstStyle>
          <a:p>
            <a:r>
              <a:t>•</a:t>
            </a:r>
          </a:p>
        </p:txBody>
      </p:sp>
      <p:sp>
        <p:nvSpPr>
          <p:cNvPr id="142" name="Item IDs, saved text, source details, and timing"/>
          <p:cNvSpPr txBox="1"/>
          <p:nvPr/>
        </p:nvSpPr>
        <p:spPr>
          <a:xfrm>
            <a:off x="998219" y="4171950"/>
            <a:ext cx="4404361"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Item IDs, saved text, source details, and timing</a:t>
            </a:r>
          </a:p>
        </p:txBody>
      </p:sp>
      <p:sp>
        <p:nvSpPr>
          <p:cNvPr id="143" name="•"/>
          <p:cNvSpPr txBox="1"/>
          <p:nvPr/>
        </p:nvSpPr>
        <p:spPr>
          <a:xfrm>
            <a:off x="731519" y="462915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2F75B5"/>
                </a:solidFill>
              </a:defRPr>
            </a:lvl1pPr>
          </a:lstStyle>
          <a:p>
            <a:r>
              <a:t>•</a:t>
            </a:r>
          </a:p>
        </p:txBody>
      </p:sp>
      <p:sp>
        <p:nvSpPr>
          <p:cNvPr id="144" name="Independent votes, final decisions, and evidence excerpts"/>
          <p:cNvSpPr txBox="1"/>
          <p:nvPr/>
        </p:nvSpPr>
        <p:spPr>
          <a:xfrm>
            <a:off x="998219" y="4629150"/>
            <a:ext cx="4404361"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Independent votes, final decisions, and evidence excerpts</a:t>
            </a:r>
          </a:p>
        </p:txBody>
      </p:sp>
      <p:sp>
        <p:nvSpPr>
          <p:cNvPr id="145" name="•"/>
          <p:cNvSpPr txBox="1"/>
          <p:nvPr/>
        </p:nvSpPr>
        <p:spPr>
          <a:xfrm>
            <a:off x="731519" y="508635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2F75B5"/>
                </a:solidFill>
              </a:defRPr>
            </a:lvl1pPr>
          </a:lstStyle>
          <a:p>
            <a:r>
              <a:t>•</a:t>
            </a:r>
          </a:p>
        </p:txBody>
      </p:sp>
      <p:sp>
        <p:nvSpPr>
          <p:cNvPr id="146" name="Model and prompt records, plus source and actor masking checks"/>
          <p:cNvSpPr txBox="1"/>
          <p:nvPr/>
        </p:nvSpPr>
        <p:spPr>
          <a:xfrm>
            <a:off x="998219" y="5086350"/>
            <a:ext cx="4404361" cy="497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Model and prompt records, plus source and actor masking checks</a:t>
            </a:r>
          </a:p>
        </p:txBody>
      </p:sp>
      <p:sp>
        <p:nvSpPr>
          <p:cNvPr id="147" name="What the measures cannot show"/>
          <p:cNvSpPr txBox="1"/>
          <p:nvPr/>
        </p:nvSpPr>
        <p:spPr>
          <a:xfrm>
            <a:off x="6475095" y="3790950"/>
            <a:ext cx="3909060"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C0504D"/>
                </a:solidFill>
              </a:defRPr>
            </a:lvl1pPr>
          </a:lstStyle>
          <a:p>
            <a:r>
              <a:t>What the measures cannot show</a:t>
            </a:r>
          </a:p>
        </p:txBody>
      </p:sp>
      <p:sp>
        <p:nvSpPr>
          <p:cNvPr id="148" name="•"/>
          <p:cNvSpPr txBox="1"/>
          <p:nvPr/>
        </p:nvSpPr>
        <p:spPr>
          <a:xfrm>
            <a:off x="6475095" y="417195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2F75B5"/>
                </a:solidFill>
              </a:defRPr>
            </a:lvl1pPr>
          </a:lstStyle>
          <a:p>
            <a:r>
              <a:t>•</a:t>
            </a:r>
          </a:p>
        </p:txBody>
      </p:sp>
      <p:sp>
        <p:nvSpPr>
          <p:cNvPr id="149" name="A dictionary does not validate a large language model (LLM)"/>
          <p:cNvSpPr txBox="1"/>
          <p:nvPr/>
        </p:nvSpPr>
        <p:spPr>
          <a:xfrm>
            <a:off x="6741794" y="4171950"/>
            <a:ext cx="4118611" cy="497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A dictionary does not validate a large language model (LLM)</a:t>
            </a:r>
          </a:p>
        </p:txBody>
      </p:sp>
      <p:sp>
        <p:nvSpPr>
          <p:cNvPr id="150" name="•"/>
          <p:cNvSpPr txBox="1"/>
          <p:nvPr/>
        </p:nvSpPr>
        <p:spPr>
          <a:xfrm>
            <a:off x="6475095" y="462915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2F75B5"/>
                </a:solidFill>
              </a:defRPr>
            </a:lvl1pPr>
          </a:lstStyle>
          <a:p>
            <a:r>
              <a:t>•</a:t>
            </a:r>
          </a:p>
        </p:txBody>
      </p:sp>
      <p:sp>
        <p:nvSpPr>
          <p:cNvPr id="151" name="A text label does not show who saw the content"/>
          <p:cNvSpPr txBox="1"/>
          <p:nvPr/>
        </p:nvSpPr>
        <p:spPr>
          <a:xfrm>
            <a:off x="6741794" y="4629150"/>
            <a:ext cx="4118611"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A text label does not show who saw the content</a:t>
            </a:r>
          </a:p>
        </p:txBody>
      </p:sp>
      <p:sp>
        <p:nvSpPr>
          <p:cNvPr id="152" name="•"/>
          <p:cNvSpPr txBox="1"/>
          <p:nvPr/>
        </p:nvSpPr>
        <p:spPr>
          <a:xfrm>
            <a:off x="6475095" y="508635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2F75B5"/>
                </a:solidFill>
              </a:defRPr>
            </a:lvl1pPr>
          </a:lstStyle>
          <a:p>
            <a:r>
              <a:t>•</a:t>
            </a:r>
          </a:p>
        </p:txBody>
      </p:sp>
      <p:sp>
        <p:nvSpPr>
          <p:cNvPr id="153" name="A measured frame does not show an individual belief"/>
          <p:cNvSpPr txBox="1"/>
          <p:nvPr/>
        </p:nvSpPr>
        <p:spPr>
          <a:xfrm>
            <a:off x="6741794" y="5086350"/>
            <a:ext cx="4118611"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A measured frame does not show an individual belief</a:t>
            </a:r>
          </a:p>
        </p:txBody>
      </p:sp>
      <p:sp>
        <p:nvSpPr>
          <p:cNvPr id="154" name="Sources: data/processed/run_summary.json; docs/human_labeling_guide.md"/>
          <p:cNvSpPr txBox="1"/>
          <p:nvPr/>
        </p:nvSpPr>
        <p:spPr>
          <a:xfrm>
            <a:off x="845819" y="6496050"/>
            <a:ext cx="84810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Sources: data/processed/run_summary.json; docs/human_labeling_guide.md</a:t>
            </a:r>
          </a:p>
        </p:txBody>
      </p:sp>
      <p:sp>
        <p:nvSpPr>
          <p:cNvPr id="155" name="NLP &amp; the Investment Process | October 2026"/>
          <p:cNvSpPr txBox="1"/>
          <p:nvPr/>
        </p:nvSpPr>
        <p:spPr>
          <a:xfrm>
            <a:off x="8618219" y="6496050"/>
            <a:ext cx="28422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NLP &amp; the Investment Process | October 2026</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TEST COMPETING EXPLANATIONS"/>
          <p:cNvSpPr txBox="1"/>
          <p:nvPr/>
        </p:nvSpPr>
        <p:spPr>
          <a:xfrm>
            <a:off x="731519" y="333375"/>
            <a:ext cx="5623561" cy="231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900">
                <a:solidFill>
                  <a:srgbClr val="2F75B5"/>
                </a:solidFill>
              </a:defRPr>
            </a:lvl1pPr>
          </a:lstStyle>
          <a:p>
            <a:r>
              <a:t>TEST COMPETING EXPLANATIONS</a:t>
            </a:r>
          </a:p>
        </p:txBody>
      </p:sp>
      <p:sp>
        <p:nvSpPr>
          <p:cNvPr id="160" name="Broader household measures improve the forecast; media does not"/>
          <p:cNvSpPr txBox="1"/>
          <p:nvPr/>
        </p:nvSpPr>
        <p:spPr>
          <a:xfrm>
            <a:off x="731519" y="647700"/>
            <a:ext cx="10386061" cy="459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a:solidFill>
                  <a:srgbClr val="17365D"/>
                </a:solidFill>
              </a:defRPr>
            </a:lvl1pPr>
          </a:lstStyle>
          <a:p>
            <a:r>
              <a:t>Broader household measures improve the forecast; media does not</a:t>
            </a:r>
          </a:p>
        </p:txBody>
      </p:sp>
      <p:sp>
        <p:nvSpPr>
          <p:cNvPr id="161" name="Rectangle"/>
          <p:cNvSpPr/>
          <p:nvPr/>
        </p:nvSpPr>
        <p:spPr>
          <a:xfrm>
            <a:off x="685800" y="1438275"/>
            <a:ext cx="10820400" cy="19050"/>
          </a:xfrm>
          <a:prstGeom prst="rect">
            <a:avLst/>
          </a:prstGeom>
          <a:solidFill>
            <a:srgbClr val="2F75B5"/>
          </a:solidFill>
          <a:ln w="12700">
            <a:miter lim="400000"/>
          </a:ln>
        </p:spPr>
        <p:txBody>
          <a:bodyPr lIns="0" tIns="0" rIns="0" bIns="0"/>
          <a:lstStyle/>
          <a:p>
            <a:endParaRPr/>
          </a:p>
        </p:txBody>
      </p:sp>
      <p:sp>
        <p:nvSpPr>
          <p:cNvPr id="162" name="05"/>
          <p:cNvSpPr txBox="1"/>
          <p:nvPr/>
        </p:nvSpPr>
        <p:spPr>
          <a:xfrm>
            <a:off x="11142344" y="333375"/>
            <a:ext cx="308611" cy="218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800">
                <a:solidFill>
                  <a:srgbClr val="5B6573"/>
                </a:solidFill>
              </a:defRPr>
            </a:lvl1pPr>
          </a:lstStyle>
          <a:p>
            <a:r>
              <a:t>05</a:t>
            </a:r>
          </a:p>
        </p:txBody>
      </p:sp>
      <p:sp>
        <p:nvSpPr>
          <p:cNvPr id="163" name="Out-of-sample mean absolute error (MAE): lower is better"/>
          <p:cNvSpPr txBox="1"/>
          <p:nvPr/>
        </p:nvSpPr>
        <p:spPr>
          <a:xfrm>
            <a:off x="731519" y="1571625"/>
            <a:ext cx="505206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Out-of-sample mean absolute error (MAE): lower is better</a:t>
            </a:r>
          </a:p>
        </p:txBody>
      </p:sp>
      <p:sp>
        <p:nvSpPr>
          <p:cNvPr id="164" name="Supplementary extension: 12-month U-3 change plus a recession signal when GDP is negative"/>
          <p:cNvSpPr txBox="1"/>
          <p:nvPr/>
        </p:nvSpPr>
        <p:spPr>
          <a:xfrm>
            <a:off x="731519" y="1809750"/>
            <a:ext cx="5718811" cy="243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00">
                <a:solidFill>
                  <a:srgbClr val="5B6573"/>
                </a:solidFill>
              </a:defRPr>
            </a:lvl1pPr>
          </a:lstStyle>
          <a:p>
            <a:r>
              <a:t>Supplementary extension: 12-month U-3 change plus a recession signal when GDP is negative</a:t>
            </a:r>
          </a:p>
        </p:txBody>
      </p:sp>
      <p:graphicFrame>
        <p:nvGraphicFramePr>
          <p:cNvPr id="165" name="Chart"/>
          <p:cNvGraphicFramePr/>
          <p:nvPr/>
        </p:nvGraphicFramePr>
        <p:xfrm>
          <a:off x="641267" y="2155825"/>
          <a:ext cx="5689683" cy="2892425"/>
        </p:xfrm>
        <a:graphic>
          <a:graphicData uri="http://schemas.openxmlformats.org/drawingml/2006/chart">
            <c:chart xmlns:c="http://schemas.openxmlformats.org/drawingml/2006/chart" xmlns:r="http://schemas.openxmlformats.org/officeDocument/2006/relationships" r:id="rId3"/>
          </a:graphicData>
        </a:graphic>
      </p:graphicFrame>
      <p:sp>
        <p:nvSpPr>
          <p:cNvPr id="166" name="Historical media test…"/>
          <p:cNvSpPr txBox="1"/>
          <p:nvPr/>
        </p:nvSpPr>
        <p:spPr>
          <a:xfrm>
            <a:off x="7284719" y="1571625"/>
            <a:ext cx="3432811" cy="370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900">
                <a:solidFill>
                  <a:srgbClr val="2F75B5"/>
                </a:solidFill>
              </a:defRPr>
            </a:pPr>
            <a:r>
              <a:t>Historical media test</a:t>
            </a:r>
          </a:p>
          <a:p>
            <a:pPr>
              <a:defRPr sz="900">
                <a:solidFill>
                  <a:srgbClr val="2F75B5"/>
                </a:solidFill>
              </a:defRPr>
            </a:pPr>
            <a:r>
              <a:t>Mean absolute error (MAE), root mean squared error (RMSE)</a:t>
            </a:r>
          </a:p>
        </p:txBody>
      </p:sp>
      <p:graphicFrame>
        <p:nvGraphicFramePr>
          <p:cNvPr id="167" name="Table 1"/>
          <p:cNvGraphicFramePr/>
          <p:nvPr/>
        </p:nvGraphicFramePr>
        <p:xfrm>
          <a:off x="7239000" y="2000250"/>
          <a:ext cx="4000500" cy="2000252"/>
        </p:xfrm>
        <a:graphic>
          <a:graphicData uri="http://schemas.openxmlformats.org/drawingml/2006/table">
            <a:tbl>
              <a:tblPr firstRow="1">
                <a:tableStyleId>{4C3C2611-4C71-4FC5-86AE-919BDF0F9419}</a:tableStyleId>
              </a:tblPr>
              <a:tblGrid>
                <a:gridCol w="2333625">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tblGrid>
              <a:tr h="500063">
                <a:tc>
                  <a:txBody>
                    <a:bodyPr/>
                    <a:lstStyle/>
                    <a:p>
                      <a:pPr algn="l">
                        <a:defRPr sz="1800" b="0">
                          <a:solidFill>
                            <a:srgbClr val="000000"/>
                          </a:solidFill>
                        </a:defRPr>
                      </a:pPr>
                      <a:r>
                        <a:rPr sz="900" b="1">
                          <a:solidFill>
                            <a:srgbClr val="FFFFFF"/>
                          </a:solidFill>
                          <a:sym typeface="Aptos"/>
                        </a:rPr>
                        <a:t>Specification</a:t>
                      </a:r>
                    </a:p>
                  </a:txBody>
                  <a:tcPr marL="45720" marR="45720" horzOverflow="overflow">
                    <a:lnL>
                      <a:solidFill>
                        <a:srgbClr val="D9E2F3"/>
                      </a:solidFill>
                    </a:lnL>
                    <a:lnR>
                      <a:solidFill>
                        <a:srgbClr val="D9E2F3"/>
                      </a:solidFill>
                    </a:lnR>
                    <a:lnT>
                      <a:solidFill>
                        <a:srgbClr val="D9E2F3"/>
                      </a:solidFill>
                    </a:lnT>
                    <a:lnB>
                      <a:solidFill>
                        <a:srgbClr val="D9E2F3"/>
                      </a:solidFill>
                    </a:lnB>
                    <a:solidFill>
                      <a:srgbClr val="17365D"/>
                    </a:solidFill>
                  </a:tcPr>
                </a:tc>
                <a:tc>
                  <a:txBody>
                    <a:bodyPr/>
                    <a:lstStyle/>
                    <a:p>
                      <a:pPr algn="l">
                        <a:defRPr sz="1800" b="0">
                          <a:solidFill>
                            <a:srgbClr val="000000"/>
                          </a:solidFill>
                        </a:defRPr>
                      </a:pPr>
                      <a:r>
                        <a:rPr sz="900" b="1">
                          <a:solidFill>
                            <a:srgbClr val="FFFFFF"/>
                          </a:solidFill>
                          <a:sym typeface="Aptos"/>
                        </a:rPr>
                        <a:t>MAE</a:t>
                      </a:r>
                    </a:p>
                  </a:txBody>
                  <a:tcPr marL="45720" marR="45720" horzOverflow="overflow">
                    <a:lnL>
                      <a:solidFill>
                        <a:srgbClr val="D9E2F3"/>
                      </a:solidFill>
                    </a:lnL>
                    <a:lnR>
                      <a:solidFill>
                        <a:srgbClr val="D9E2F3"/>
                      </a:solidFill>
                    </a:lnR>
                    <a:lnT>
                      <a:solidFill>
                        <a:srgbClr val="D9E2F3"/>
                      </a:solidFill>
                    </a:lnT>
                    <a:lnB>
                      <a:solidFill>
                        <a:srgbClr val="D9E2F3"/>
                      </a:solidFill>
                    </a:lnB>
                    <a:solidFill>
                      <a:srgbClr val="17365D"/>
                    </a:solidFill>
                  </a:tcPr>
                </a:tc>
                <a:tc>
                  <a:txBody>
                    <a:bodyPr/>
                    <a:lstStyle/>
                    <a:p>
                      <a:pPr algn="l">
                        <a:defRPr sz="1800" b="0">
                          <a:solidFill>
                            <a:srgbClr val="000000"/>
                          </a:solidFill>
                        </a:defRPr>
                      </a:pPr>
                      <a:r>
                        <a:rPr sz="900" b="1">
                          <a:solidFill>
                            <a:srgbClr val="FFFFFF"/>
                          </a:solidFill>
                          <a:sym typeface="Aptos"/>
                        </a:rPr>
                        <a:t>RMSE</a:t>
                      </a:r>
                    </a:p>
                  </a:txBody>
                  <a:tcPr marL="45720" marR="45720" horzOverflow="overflow">
                    <a:lnL>
                      <a:solidFill>
                        <a:srgbClr val="D9E2F3"/>
                      </a:solidFill>
                    </a:lnL>
                    <a:lnR>
                      <a:solidFill>
                        <a:srgbClr val="D9E2F3"/>
                      </a:solidFill>
                    </a:lnR>
                    <a:lnT>
                      <a:solidFill>
                        <a:srgbClr val="D9E2F3"/>
                      </a:solidFill>
                    </a:lnT>
                    <a:lnB>
                      <a:solidFill>
                        <a:srgbClr val="D9E2F3"/>
                      </a:solidFill>
                    </a:lnB>
                    <a:solidFill>
                      <a:srgbClr val="17365D"/>
                    </a:solidFill>
                  </a:tcPr>
                </a:tc>
                <a:extLst>
                  <a:ext uri="{0D108BD9-81ED-4DB2-BD59-A6C34878D82A}">
                    <a16:rowId xmlns:a16="http://schemas.microsoft.com/office/drawing/2014/main" val="10000"/>
                  </a:ext>
                </a:extLst>
              </a:tr>
              <a:tr h="500063">
                <a:tc>
                  <a:txBody>
                    <a:bodyPr/>
                    <a:lstStyle/>
                    <a:p>
                      <a:pPr algn="l">
                        <a:defRPr sz="1800"/>
                      </a:pPr>
                      <a:r>
                        <a:rPr sz="900">
                          <a:solidFill>
                            <a:srgbClr val="172033"/>
                          </a:solidFill>
                          <a:sym typeface="Aptos"/>
                        </a:rPr>
                        <a:t>Economic only</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tc>
                  <a:txBody>
                    <a:bodyPr/>
                    <a:lstStyle/>
                    <a:p>
                      <a:pPr algn="l">
                        <a:defRPr sz="1800"/>
                      </a:pPr>
                      <a:r>
                        <a:rPr sz="900">
                          <a:solidFill>
                            <a:srgbClr val="172033"/>
                          </a:solidFill>
                          <a:sym typeface="Aptos"/>
                        </a:rPr>
                        <a:t>5.93</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tc>
                  <a:txBody>
                    <a:bodyPr/>
                    <a:lstStyle/>
                    <a:p>
                      <a:pPr algn="l">
                        <a:defRPr sz="1800"/>
                      </a:pPr>
                      <a:r>
                        <a:rPr sz="900">
                          <a:solidFill>
                            <a:srgbClr val="172033"/>
                          </a:solidFill>
                          <a:sym typeface="Aptos"/>
                        </a:rPr>
                        <a:t>10.63</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extLst>
                  <a:ext uri="{0D108BD9-81ED-4DB2-BD59-A6C34878D82A}">
                    <a16:rowId xmlns:a16="http://schemas.microsoft.com/office/drawing/2014/main" val="10001"/>
                  </a:ext>
                </a:extLst>
              </a:tr>
              <a:tr h="500063">
                <a:tc>
                  <a:txBody>
                    <a:bodyPr/>
                    <a:lstStyle/>
                    <a:p>
                      <a:pPr algn="l">
                        <a:defRPr sz="1800"/>
                      </a:pPr>
                      <a:r>
                        <a:rPr sz="900">
                          <a:solidFill>
                            <a:srgbClr val="172033"/>
                          </a:solidFill>
                          <a:sym typeface="Aptos"/>
                        </a:rPr>
                        <a:t>+ one-month media tone</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tc>
                  <a:txBody>
                    <a:bodyPr/>
                    <a:lstStyle/>
                    <a:p>
                      <a:pPr algn="l">
                        <a:defRPr sz="1800"/>
                      </a:pPr>
                      <a:r>
                        <a:rPr sz="900">
                          <a:solidFill>
                            <a:srgbClr val="172033"/>
                          </a:solidFill>
                          <a:sym typeface="Aptos"/>
                        </a:rPr>
                        <a:t>6.04</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tc>
                  <a:txBody>
                    <a:bodyPr/>
                    <a:lstStyle/>
                    <a:p>
                      <a:pPr algn="l">
                        <a:defRPr sz="1800"/>
                      </a:pPr>
                      <a:r>
                        <a:rPr sz="900">
                          <a:solidFill>
                            <a:srgbClr val="172033"/>
                          </a:solidFill>
                          <a:sym typeface="Aptos"/>
                        </a:rPr>
                        <a:t>9.84</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extLst>
                  <a:ext uri="{0D108BD9-81ED-4DB2-BD59-A6C34878D82A}">
                    <a16:rowId xmlns:a16="http://schemas.microsoft.com/office/drawing/2014/main" val="10002"/>
                  </a:ext>
                </a:extLst>
              </a:tr>
              <a:tr h="500063">
                <a:tc>
                  <a:txBody>
                    <a:bodyPr/>
                    <a:lstStyle/>
                    <a:p>
                      <a:pPr algn="l">
                        <a:defRPr sz="1800"/>
                      </a:pPr>
                      <a:r>
                        <a:rPr sz="900">
                          <a:solidFill>
                            <a:srgbClr val="172033"/>
                          </a:solidFill>
                          <a:sym typeface="Aptos"/>
                        </a:rPr>
                        <a:t>+ media + archived controls</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tc>
                  <a:txBody>
                    <a:bodyPr/>
                    <a:lstStyle/>
                    <a:p>
                      <a:pPr algn="l">
                        <a:defRPr sz="1800"/>
                      </a:pPr>
                      <a:r>
                        <a:rPr sz="900">
                          <a:solidFill>
                            <a:srgbClr val="172033"/>
                          </a:solidFill>
                          <a:sym typeface="Aptos"/>
                        </a:rPr>
                        <a:t>7.92</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tc>
                  <a:txBody>
                    <a:bodyPr/>
                    <a:lstStyle/>
                    <a:p>
                      <a:pPr algn="l">
                        <a:defRPr sz="1800"/>
                      </a:pPr>
                      <a:r>
                        <a:rPr sz="900">
                          <a:solidFill>
                            <a:srgbClr val="172033"/>
                          </a:solidFill>
                          <a:sym typeface="Aptos"/>
                        </a:rPr>
                        <a:t>18.61</a:t>
                      </a:r>
                    </a:p>
                  </a:txBody>
                  <a:tcPr marL="45720" marR="45720" horzOverflow="overflow">
                    <a:lnL>
                      <a:solidFill>
                        <a:srgbClr val="D9E2F3"/>
                      </a:solidFill>
                    </a:lnL>
                    <a:lnR>
                      <a:solidFill>
                        <a:srgbClr val="D9E2F3"/>
                      </a:solidFill>
                    </a:lnR>
                    <a:lnT>
                      <a:solidFill>
                        <a:srgbClr val="D9E2F3"/>
                      </a:solidFill>
                    </a:lnT>
                    <a:lnB>
                      <a:solidFill>
                        <a:srgbClr val="D9E2F3"/>
                      </a:solidFill>
                    </a:lnB>
                    <a:noFill/>
                  </a:tcPr>
                </a:tc>
                <a:extLst>
                  <a:ext uri="{0D108BD9-81ED-4DB2-BD59-A6C34878D82A}">
                    <a16:rowId xmlns:a16="http://schemas.microsoft.com/office/drawing/2014/main" val="10003"/>
                  </a:ext>
                </a:extLst>
              </a:tr>
            </a:tbl>
          </a:graphicData>
        </a:graphic>
      </p:graphicFrame>
      <p:sp>
        <p:nvSpPr>
          <p:cNvPr id="168" name="Additional notebook checks"/>
          <p:cNvSpPr txBox="1"/>
          <p:nvPr/>
        </p:nvSpPr>
        <p:spPr>
          <a:xfrm>
            <a:off x="7284719" y="4238625"/>
            <a:ext cx="324231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Additional notebook checks</a:t>
            </a:r>
          </a:p>
        </p:txBody>
      </p:sp>
      <p:sp>
        <p:nvSpPr>
          <p:cNvPr id="169" name="Month-end data: MAE 12.58, RMSE 16.46. Same result as the baseline."/>
          <p:cNvSpPr txBox="1"/>
          <p:nvPr/>
        </p:nvSpPr>
        <p:spPr>
          <a:xfrm>
            <a:off x="7284719" y="4591050"/>
            <a:ext cx="3813811" cy="396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00">
                <a:solidFill>
                  <a:srgbClr val="172033"/>
                </a:solidFill>
              </a:defRPr>
            </a:lvl1pPr>
          </a:lstStyle>
          <a:p>
            <a:r>
              <a:t>Month-end data: MAE 12.58, RMSE 16.46. Same result as the baseline.</a:t>
            </a:r>
          </a:p>
        </p:txBody>
      </p:sp>
      <p:sp>
        <p:nvSpPr>
          <p:cNvPr id="170" name="Lagged sentiment: MAE 3.45, RMSE 4.59. This checks persistence only."/>
          <p:cNvSpPr txBox="1"/>
          <p:nvPr/>
        </p:nvSpPr>
        <p:spPr>
          <a:xfrm>
            <a:off x="7284719" y="4991100"/>
            <a:ext cx="3813811" cy="396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00">
                <a:solidFill>
                  <a:srgbClr val="172033"/>
                </a:solidFill>
              </a:defRPr>
            </a:lvl1pPr>
          </a:lstStyle>
          <a:p>
            <a:r>
              <a:t>Lagged sentiment: MAE 3.45, RMSE 4.59. This checks persistence only.</a:t>
            </a:r>
          </a:p>
        </p:txBody>
      </p:sp>
      <p:sp>
        <p:nvSpPr>
          <p:cNvPr id="171" name="Mean absolute error falls 35% with the household proxy and 64% with expanded controls. This points to missing household information, not a proven cause."/>
          <p:cNvSpPr txBox="1"/>
          <p:nvPr/>
        </p:nvSpPr>
        <p:spPr>
          <a:xfrm>
            <a:off x="7284719" y="5505450"/>
            <a:ext cx="3813811" cy="548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00">
                <a:solidFill>
                  <a:srgbClr val="17365D"/>
                </a:solidFill>
              </a:defRPr>
            </a:lvl1pPr>
          </a:lstStyle>
          <a:p>
            <a:r>
              <a:t>Mean absolute error falls 35% with the household proxy and 64% with expanded controls. This points to missing household information, not a proven cause.</a:t>
            </a:r>
          </a:p>
        </p:txBody>
      </p:sp>
      <p:sp>
        <p:nvSpPr>
          <p:cNvPr id="172" name="Source files: run summary; month-end vintage forecasts; media-model status"/>
          <p:cNvSpPr txBox="1"/>
          <p:nvPr/>
        </p:nvSpPr>
        <p:spPr>
          <a:xfrm>
            <a:off x="845819" y="6496050"/>
            <a:ext cx="84810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Source files: run summary; month-end vintage forecasts; media-model status</a:t>
            </a:r>
          </a:p>
        </p:txBody>
      </p:sp>
      <p:sp>
        <p:nvSpPr>
          <p:cNvPr id="173" name="NLP &amp; the Investment Process | October 2026"/>
          <p:cNvSpPr txBox="1"/>
          <p:nvPr/>
        </p:nvSpPr>
        <p:spPr>
          <a:xfrm>
            <a:off x="8618219" y="6496050"/>
            <a:ext cx="28422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NLP &amp; the Investment Process | October 2026</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SET THE CAUSAL BOUNDARY"/>
          <p:cNvSpPr txBox="1"/>
          <p:nvPr/>
        </p:nvSpPr>
        <p:spPr>
          <a:xfrm>
            <a:off x="731519" y="333375"/>
            <a:ext cx="5623561" cy="231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900">
                <a:solidFill>
                  <a:srgbClr val="2F75B5"/>
                </a:solidFill>
              </a:defRPr>
            </a:lvl1pPr>
          </a:lstStyle>
          <a:p>
            <a:r>
              <a:t>SET THE CAUSAL BOUNDARY</a:t>
            </a:r>
          </a:p>
        </p:txBody>
      </p:sp>
      <p:sp>
        <p:nvSpPr>
          <p:cNvPr id="178" name="Media helps prioritize research, not change a forecast"/>
          <p:cNvSpPr txBox="1"/>
          <p:nvPr/>
        </p:nvSpPr>
        <p:spPr>
          <a:xfrm>
            <a:off x="731519" y="647700"/>
            <a:ext cx="10386061" cy="459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a:solidFill>
                  <a:srgbClr val="17365D"/>
                </a:solidFill>
              </a:defRPr>
            </a:lvl1pPr>
          </a:lstStyle>
          <a:p>
            <a:r>
              <a:t>Media helps prioritize research, not change a forecast</a:t>
            </a:r>
          </a:p>
        </p:txBody>
      </p:sp>
      <p:sp>
        <p:nvSpPr>
          <p:cNvPr id="179" name="Rectangle"/>
          <p:cNvSpPr/>
          <p:nvPr/>
        </p:nvSpPr>
        <p:spPr>
          <a:xfrm>
            <a:off x="685800" y="1438275"/>
            <a:ext cx="10820400" cy="19050"/>
          </a:xfrm>
          <a:prstGeom prst="rect">
            <a:avLst/>
          </a:prstGeom>
          <a:solidFill>
            <a:srgbClr val="2F75B5"/>
          </a:solidFill>
          <a:ln w="12700">
            <a:miter lim="400000"/>
          </a:ln>
        </p:spPr>
        <p:txBody>
          <a:bodyPr lIns="0" tIns="0" rIns="0" bIns="0"/>
          <a:lstStyle/>
          <a:p>
            <a:endParaRPr/>
          </a:p>
        </p:txBody>
      </p:sp>
      <p:sp>
        <p:nvSpPr>
          <p:cNvPr id="180" name="06"/>
          <p:cNvSpPr txBox="1"/>
          <p:nvPr/>
        </p:nvSpPr>
        <p:spPr>
          <a:xfrm>
            <a:off x="11142344" y="333375"/>
            <a:ext cx="308611" cy="218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800">
                <a:solidFill>
                  <a:srgbClr val="5B6573"/>
                </a:solidFill>
              </a:defRPr>
            </a:lvl1pPr>
          </a:lstStyle>
          <a:p>
            <a:r>
              <a:t>06</a:t>
            </a:r>
          </a:p>
        </p:txBody>
      </p:sp>
      <p:sp>
        <p:nvSpPr>
          <p:cNvPr id="181" name="Estimated change after a 10-point rise in prior-month negative tone"/>
          <p:cNvSpPr txBox="1"/>
          <p:nvPr/>
        </p:nvSpPr>
        <p:spPr>
          <a:xfrm>
            <a:off x="731519" y="1562100"/>
            <a:ext cx="752856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Estimated change after a 10-point rise in prior-month negative tone</a:t>
            </a:r>
          </a:p>
        </p:txBody>
      </p:sp>
      <p:graphicFrame>
        <p:nvGraphicFramePr>
          <p:cNvPr id="182" name="Chart"/>
          <p:cNvGraphicFramePr/>
          <p:nvPr/>
        </p:nvGraphicFramePr>
        <p:xfrm>
          <a:off x="817814" y="2012950"/>
          <a:ext cx="5703636" cy="2844800"/>
        </p:xfrm>
        <a:graphic>
          <a:graphicData uri="http://schemas.openxmlformats.org/drawingml/2006/chart">
            <c:chart xmlns:c="http://schemas.openxmlformats.org/drawingml/2006/chart" xmlns:r="http://schemas.openxmlformats.org/officeDocument/2006/relationships" r:id="rId3"/>
          </a:graphicData>
        </a:graphic>
      </p:graphicFrame>
      <p:sp>
        <p:nvSpPr>
          <p:cNvPr id="183" name="Why this is not a causal result"/>
          <p:cNvSpPr txBox="1"/>
          <p:nvPr/>
        </p:nvSpPr>
        <p:spPr>
          <a:xfrm>
            <a:off x="7284719" y="1666875"/>
            <a:ext cx="324231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Why this is not a causal result</a:t>
            </a:r>
          </a:p>
        </p:txBody>
      </p:sp>
      <p:sp>
        <p:nvSpPr>
          <p:cNvPr id="184" name="•"/>
          <p:cNvSpPr txBox="1"/>
          <p:nvPr/>
        </p:nvSpPr>
        <p:spPr>
          <a:xfrm>
            <a:off x="7284719" y="2047875"/>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t>
            </a:r>
          </a:p>
        </p:txBody>
      </p:sp>
      <p:sp>
        <p:nvSpPr>
          <p:cNvPr id="185" name="2014-2021 archive with 89 matched months"/>
          <p:cNvSpPr txBox="1"/>
          <p:nvPr/>
        </p:nvSpPr>
        <p:spPr>
          <a:xfrm>
            <a:off x="7551419" y="2047875"/>
            <a:ext cx="354711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2033"/>
                </a:solidFill>
              </a:defRPr>
            </a:lvl1pPr>
          </a:lstStyle>
          <a:p>
            <a:r>
              <a:t>2014-2021 archive with 89 matched months</a:t>
            </a:r>
          </a:p>
        </p:txBody>
      </p:sp>
      <p:sp>
        <p:nvSpPr>
          <p:cNvPr id="186" name="•"/>
          <p:cNvSpPr txBox="1"/>
          <p:nvPr/>
        </p:nvSpPr>
        <p:spPr>
          <a:xfrm>
            <a:off x="7284719" y="251460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t>
            </a:r>
          </a:p>
        </p:txBody>
      </p:sp>
      <p:sp>
        <p:nvSpPr>
          <p:cNvPr id="187" name="Controls: prior sentiment, U-3, PCE, GDP, and seasonality"/>
          <p:cNvSpPr txBox="1"/>
          <p:nvPr/>
        </p:nvSpPr>
        <p:spPr>
          <a:xfrm>
            <a:off x="7551419" y="2514600"/>
            <a:ext cx="3547111" cy="447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2033"/>
                </a:solidFill>
              </a:defRPr>
            </a:lvl1pPr>
          </a:lstStyle>
          <a:p>
            <a:r>
              <a:t>Controls: prior sentiment, U-3, PCE, GDP, and seasonality</a:t>
            </a:r>
          </a:p>
        </p:txBody>
      </p:sp>
      <p:sp>
        <p:nvSpPr>
          <p:cNvPr id="188" name="•"/>
          <p:cNvSpPr txBox="1"/>
          <p:nvPr/>
        </p:nvSpPr>
        <p:spPr>
          <a:xfrm>
            <a:off x="7284719" y="2981325"/>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t>
            </a:r>
          </a:p>
        </p:txBody>
      </p:sp>
      <p:sp>
        <p:nvSpPr>
          <p:cNvPr id="189" name="Newey-West standard errors with six lags (HAC(6)); future-media placebo p-values: 0.543, 0.995, 0.529"/>
          <p:cNvSpPr txBox="1"/>
          <p:nvPr/>
        </p:nvSpPr>
        <p:spPr>
          <a:xfrm>
            <a:off x="7551419" y="2981325"/>
            <a:ext cx="3547111" cy="624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2033"/>
                </a:solidFill>
              </a:defRPr>
            </a:lvl1pPr>
          </a:lstStyle>
          <a:p>
            <a:r>
              <a:t>Newey-West standard errors with six lags (HAC(6)); future-media placebo p-values: 0.543, 0.995, 0.529</a:t>
            </a:r>
          </a:p>
        </p:txBody>
      </p:sp>
      <p:sp>
        <p:nvSpPr>
          <p:cNvPr id="190" name="•"/>
          <p:cNvSpPr txBox="1"/>
          <p:nvPr/>
        </p:nvSpPr>
        <p:spPr>
          <a:xfrm>
            <a:off x="7284719" y="344805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t>
            </a:r>
          </a:p>
        </p:txBody>
      </p:sp>
      <p:sp>
        <p:nvSpPr>
          <p:cNvPr id="191" name="No data on exposure and no outside treatment variation"/>
          <p:cNvSpPr txBox="1"/>
          <p:nvPr/>
        </p:nvSpPr>
        <p:spPr>
          <a:xfrm>
            <a:off x="7551419" y="3448050"/>
            <a:ext cx="3547111" cy="447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2033"/>
                </a:solidFill>
              </a:defRPr>
            </a:lvl1pPr>
          </a:lstStyle>
          <a:p>
            <a:r>
              <a:t>No data on exposure and no outside treatment variation</a:t>
            </a:r>
          </a:p>
        </p:txBody>
      </p:sp>
      <p:sp>
        <p:nvSpPr>
          <p:cNvPr id="192" name="Similar results across all three measures suggest broad co-movement. Without exposure data, the pattern cannot identify media as the cause."/>
          <p:cNvSpPr txBox="1"/>
          <p:nvPr/>
        </p:nvSpPr>
        <p:spPr>
          <a:xfrm>
            <a:off x="7284719" y="4238625"/>
            <a:ext cx="3670936" cy="624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365D"/>
                </a:solidFill>
              </a:defRPr>
            </a:lvl1pPr>
          </a:lstStyle>
          <a:p>
            <a:r>
              <a:t>Similar results across all three measures suggest broad co-movement. Without exposure data, the pattern cannot identify media as the cause.</a:t>
            </a:r>
          </a:p>
        </p:txBody>
      </p:sp>
      <p:sp>
        <p:nvSpPr>
          <p:cNvPr id="193" name="Source: data/processed/causal_association_results.csv"/>
          <p:cNvSpPr txBox="1"/>
          <p:nvPr/>
        </p:nvSpPr>
        <p:spPr>
          <a:xfrm>
            <a:off x="845819" y="6496050"/>
            <a:ext cx="84810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Source: data/processed/causal_association_results.csv</a:t>
            </a:r>
          </a:p>
        </p:txBody>
      </p:sp>
      <p:sp>
        <p:nvSpPr>
          <p:cNvPr id="194" name="NLP &amp; the Investment Process | October 2026"/>
          <p:cNvSpPr txBox="1"/>
          <p:nvPr/>
        </p:nvSpPr>
        <p:spPr>
          <a:xfrm>
            <a:off x="8618219" y="6496050"/>
            <a:ext cx="28422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NLP &amp; the Investment Process | October 2026</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TRANSLATE EVIDENCE INTO ACTION"/>
          <p:cNvSpPr txBox="1"/>
          <p:nvPr/>
        </p:nvSpPr>
        <p:spPr>
          <a:xfrm>
            <a:off x="731519" y="333375"/>
            <a:ext cx="5623561" cy="231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900">
                <a:solidFill>
                  <a:srgbClr val="2F75B5"/>
                </a:solidFill>
              </a:defRPr>
            </a:lvl1pPr>
          </a:lstStyle>
          <a:p>
            <a:r>
              <a:t>TRANSLATE EVIDENCE INTO ACTION</a:t>
            </a:r>
          </a:p>
        </p:txBody>
      </p:sp>
      <p:sp>
        <p:nvSpPr>
          <p:cNvPr id="199" name="A governed narrative-risk forecast overlay"/>
          <p:cNvSpPr txBox="1"/>
          <p:nvPr/>
        </p:nvSpPr>
        <p:spPr>
          <a:xfrm>
            <a:off x="731519" y="647700"/>
            <a:ext cx="10386061" cy="459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a:solidFill>
                  <a:srgbClr val="17365D"/>
                </a:solidFill>
              </a:defRPr>
            </a:lvl1pPr>
          </a:lstStyle>
          <a:p>
            <a:r>
              <a:t>A governed narrative-risk forecast overlay</a:t>
            </a:r>
          </a:p>
        </p:txBody>
      </p:sp>
      <p:sp>
        <p:nvSpPr>
          <p:cNvPr id="200" name="Rectangle"/>
          <p:cNvSpPr/>
          <p:nvPr/>
        </p:nvSpPr>
        <p:spPr>
          <a:xfrm>
            <a:off x="685800" y="1438275"/>
            <a:ext cx="10820400" cy="19050"/>
          </a:xfrm>
          <a:prstGeom prst="rect">
            <a:avLst/>
          </a:prstGeom>
          <a:solidFill>
            <a:srgbClr val="2F75B5"/>
          </a:solidFill>
          <a:ln w="12700">
            <a:miter lim="400000"/>
          </a:ln>
        </p:spPr>
        <p:txBody>
          <a:bodyPr lIns="0" tIns="0" rIns="0" bIns="0"/>
          <a:lstStyle/>
          <a:p>
            <a:endParaRPr/>
          </a:p>
        </p:txBody>
      </p:sp>
      <p:sp>
        <p:nvSpPr>
          <p:cNvPr id="201" name="07"/>
          <p:cNvSpPr txBox="1"/>
          <p:nvPr/>
        </p:nvSpPr>
        <p:spPr>
          <a:xfrm>
            <a:off x="11142344" y="333375"/>
            <a:ext cx="308611" cy="218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800">
                <a:solidFill>
                  <a:srgbClr val="5B6573"/>
                </a:solidFill>
              </a:defRPr>
            </a:lvl1pPr>
          </a:lstStyle>
          <a:p>
            <a:r>
              <a:t>07</a:t>
            </a:r>
          </a:p>
        </p:txBody>
      </p:sp>
      <p:sp>
        <p:nvSpPr>
          <p:cNvPr id="202" name="Evidence that can inform analyst review"/>
          <p:cNvSpPr txBox="1"/>
          <p:nvPr/>
        </p:nvSpPr>
        <p:spPr>
          <a:xfrm>
            <a:off x="731519" y="1666875"/>
            <a:ext cx="448056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Evidence that can inform analyst review</a:t>
            </a:r>
          </a:p>
        </p:txBody>
      </p:sp>
      <p:sp>
        <p:nvSpPr>
          <p:cNvPr id="203" name="•"/>
          <p:cNvSpPr txBox="1"/>
          <p:nvPr/>
        </p:nvSpPr>
        <p:spPr>
          <a:xfrm>
            <a:off x="731519" y="209550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2F75B5"/>
                </a:solidFill>
              </a:defRPr>
            </a:lvl1pPr>
          </a:lstStyle>
          <a:p>
            <a:r>
              <a:t>•</a:t>
            </a:r>
          </a:p>
        </p:txBody>
      </p:sp>
      <p:sp>
        <p:nvSpPr>
          <p:cNvPr id="204" name="Economic baseline that respects data timing and tracks the sentiment gap"/>
          <p:cNvSpPr txBox="1"/>
          <p:nvPr/>
        </p:nvSpPr>
        <p:spPr>
          <a:xfrm>
            <a:off x="998219" y="2095500"/>
            <a:ext cx="4404361" cy="497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Economic baseline that respects data timing and tracks the sentiment gap</a:t>
            </a:r>
          </a:p>
        </p:txBody>
      </p:sp>
      <p:sp>
        <p:nvSpPr>
          <p:cNvPr id="205" name="•"/>
          <p:cNvSpPr txBox="1"/>
          <p:nvPr/>
        </p:nvSpPr>
        <p:spPr>
          <a:xfrm>
            <a:off x="731519" y="259080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2F75B5"/>
                </a:solidFill>
              </a:defRPr>
            </a:lvl1pPr>
          </a:lstStyle>
          <a:p>
            <a:r>
              <a:t>•</a:t>
            </a:r>
          </a:p>
        </p:txBody>
      </p:sp>
      <p:sp>
        <p:nvSpPr>
          <p:cNvPr id="206" name="Audited media workflow with reported missing data"/>
          <p:cNvSpPr txBox="1"/>
          <p:nvPr/>
        </p:nvSpPr>
        <p:spPr>
          <a:xfrm>
            <a:off x="998219" y="2590800"/>
            <a:ext cx="4404361"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Audited media workflow with reported missing data</a:t>
            </a:r>
          </a:p>
        </p:txBody>
      </p:sp>
      <p:sp>
        <p:nvSpPr>
          <p:cNvPr id="207" name="•"/>
          <p:cNvSpPr txBox="1"/>
          <p:nvPr/>
        </p:nvSpPr>
        <p:spPr>
          <a:xfrm>
            <a:off x="731519" y="308610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2F75B5"/>
                </a:solidFill>
              </a:defRPr>
            </a:lvl1pPr>
          </a:lstStyle>
          <a:p>
            <a:r>
              <a:t>•</a:t>
            </a:r>
          </a:p>
        </p:txBody>
      </p:sp>
      <p:sp>
        <p:nvSpPr>
          <p:cNvPr id="208" name="Source-content comparisons and historical associations"/>
          <p:cNvSpPr txBox="1"/>
          <p:nvPr/>
        </p:nvSpPr>
        <p:spPr>
          <a:xfrm>
            <a:off x="998219" y="3086100"/>
            <a:ext cx="4404361"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Source-content comparisons and historical associations</a:t>
            </a:r>
          </a:p>
        </p:txBody>
      </p:sp>
      <p:sp>
        <p:nvSpPr>
          <p:cNvPr id="209" name="•"/>
          <p:cNvSpPr txBox="1"/>
          <p:nvPr/>
        </p:nvSpPr>
        <p:spPr>
          <a:xfrm>
            <a:off x="731519" y="358140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2F75B5"/>
                </a:solidFill>
              </a:defRPr>
            </a:lvl1pPr>
          </a:lstStyle>
          <a:p>
            <a:r>
              <a:t>•</a:t>
            </a:r>
          </a:p>
        </p:txBody>
      </p:sp>
      <p:sp>
        <p:nvSpPr>
          <p:cNvPr id="210" name="A planned experiment for stronger future evidence"/>
          <p:cNvSpPr txBox="1"/>
          <p:nvPr/>
        </p:nvSpPr>
        <p:spPr>
          <a:xfrm>
            <a:off x="998219" y="3581400"/>
            <a:ext cx="4404361"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A planned experiment for stronger future evidence</a:t>
            </a:r>
          </a:p>
        </p:txBody>
      </p:sp>
      <p:sp>
        <p:nvSpPr>
          <p:cNvPr id="211" name="Claims the evidence does not support"/>
          <p:cNvSpPr txBox="1"/>
          <p:nvPr/>
        </p:nvSpPr>
        <p:spPr>
          <a:xfrm>
            <a:off x="6617969" y="1666875"/>
            <a:ext cx="448056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C0504D"/>
                </a:solidFill>
              </a:defRPr>
            </a:lvl1pPr>
          </a:lstStyle>
          <a:p>
            <a:r>
              <a:t>Claims the evidence does not support</a:t>
            </a:r>
          </a:p>
        </p:txBody>
      </p:sp>
      <p:sp>
        <p:nvSpPr>
          <p:cNvPr id="212" name="•"/>
          <p:cNvSpPr txBox="1"/>
          <p:nvPr/>
        </p:nvSpPr>
        <p:spPr>
          <a:xfrm>
            <a:off x="6617969" y="209550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2F75B5"/>
                </a:solidFill>
              </a:defRPr>
            </a:lvl1pPr>
          </a:lstStyle>
          <a:p>
            <a:r>
              <a:t>•</a:t>
            </a:r>
          </a:p>
        </p:txBody>
      </p:sp>
      <p:sp>
        <p:nvSpPr>
          <p:cNvPr id="213" name="Negative coverage is biased"/>
          <p:cNvSpPr txBox="1"/>
          <p:nvPr/>
        </p:nvSpPr>
        <p:spPr>
          <a:xfrm>
            <a:off x="6884669" y="2095500"/>
            <a:ext cx="4404361"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Negative coverage is biased</a:t>
            </a:r>
          </a:p>
        </p:txBody>
      </p:sp>
      <p:sp>
        <p:nvSpPr>
          <p:cNvPr id="214" name="•"/>
          <p:cNvSpPr txBox="1"/>
          <p:nvPr/>
        </p:nvSpPr>
        <p:spPr>
          <a:xfrm>
            <a:off x="6617969" y="259080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2F75B5"/>
                </a:solidFill>
              </a:defRPr>
            </a:lvl1pPr>
          </a:lstStyle>
          <a:p>
            <a:r>
              <a:t>•</a:t>
            </a:r>
          </a:p>
        </p:txBody>
      </p:sp>
      <p:sp>
        <p:nvSpPr>
          <p:cNvPr id="215" name="Respondents saw, remembered, or believed the sampled content"/>
          <p:cNvSpPr txBox="1"/>
          <p:nvPr/>
        </p:nvSpPr>
        <p:spPr>
          <a:xfrm>
            <a:off x="6884669" y="2590800"/>
            <a:ext cx="4404361" cy="497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Respondents saw, remembered, or believed the sampled content</a:t>
            </a:r>
          </a:p>
        </p:txBody>
      </p:sp>
      <p:sp>
        <p:nvSpPr>
          <p:cNvPr id="216" name="•"/>
          <p:cNvSpPr txBox="1"/>
          <p:nvPr/>
        </p:nvSpPr>
        <p:spPr>
          <a:xfrm>
            <a:off x="6617969" y="308610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2F75B5"/>
                </a:solidFill>
              </a:defRPr>
            </a:lvl1pPr>
          </a:lstStyle>
          <a:p>
            <a:r>
              <a:t>•</a:t>
            </a:r>
          </a:p>
        </p:txBody>
      </p:sp>
      <p:sp>
        <p:nvSpPr>
          <p:cNvPr id="217" name="Media tone caused national Michigan sentiment"/>
          <p:cNvSpPr txBox="1"/>
          <p:nvPr/>
        </p:nvSpPr>
        <p:spPr>
          <a:xfrm>
            <a:off x="6884669" y="3086100"/>
            <a:ext cx="4404361"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Media tone caused national Michigan sentiment</a:t>
            </a:r>
          </a:p>
        </p:txBody>
      </p:sp>
      <p:sp>
        <p:nvSpPr>
          <p:cNvPr id="218" name="•"/>
          <p:cNvSpPr txBox="1"/>
          <p:nvPr/>
        </p:nvSpPr>
        <p:spPr>
          <a:xfrm>
            <a:off x="6617969" y="358140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2F75B5"/>
                </a:solidFill>
              </a:defRPr>
            </a:lvl1pPr>
          </a:lstStyle>
          <a:p>
            <a:r>
              <a:t>•</a:t>
            </a:r>
          </a:p>
        </p:txBody>
      </p:sp>
      <p:sp>
        <p:nvSpPr>
          <p:cNvPr id="219" name="Campaign timing caused a change in sentiment"/>
          <p:cNvSpPr txBox="1"/>
          <p:nvPr/>
        </p:nvSpPr>
        <p:spPr>
          <a:xfrm>
            <a:off x="6884669" y="3581400"/>
            <a:ext cx="4404361"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172033"/>
                </a:solidFill>
              </a:defRPr>
            </a:lvl1pPr>
          </a:lstStyle>
          <a:p>
            <a:r>
              <a:t>Campaign timing caused a change in sentiment</a:t>
            </a:r>
          </a:p>
        </p:txBody>
      </p:sp>
      <p:sp>
        <p:nvSpPr>
          <p:cNvPr id="220" name="Rectangle"/>
          <p:cNvSpPr/>
          <p:nvPr/>
        </p:nvSpPr>
        <p:spPr>
          <a:xfrm>
            <a:off x="685800" y="4686300"/>
            <a:ext cx="10820400" cy="800100"/>
          </a:xfrm>
          <a:prstGeom prst="rect">
            <a:avLst/>
          </a:prstGeom>
          <a:solidFill>
            <a:srgbClr val="EAF2F8"/>
          </a:solidFill>
          <a:ln>
            <a:solidFill>
              <a:srgbClr val="D9E2F3"/>
            </a:solidFill>
          </a:ln>
        </p:spPr>
        <p:txBody>
          <a:bodyPr lIns="0" tIns="0" rIns="0" bIns="0"/>
          <a:lstStyle/>
          <a:p>
            <a:endParaRPr/>
          </a:p>
        </p:txBody>
      </p:sp>
      <p:sp>
        <p:nvSpPr>
          <p:cNvPr id="221" name="Decision rule: start a review, keep uncertainty visible, and seek more evidence. Change a forecast because of media only with exposure evidence or a credible study design."/>
          <p:cNvSpPr txBox="1"/>
          <p:nvPr/>
        </p:nvSpPr>
        <p:spPr>
          <a:xfrm>
            <a:off x="998219" y="4876800"/>
            <a:ext cx="10005061" cy="548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500">
                <a:solidFill>
                  <a:srgbClr val="17365D"/>
                </a:solidFill>
              </a:defRPr>
            </a:lvl1pPr>
          </a:lstStyle>
          <a:p>
            <a:r>
              <a:t>Decision rule: start a review, keep uncertainty visible, and seek more evidence. Change a forecast because of media only with exposure evidence or a credible study design.</a:t>
            </a:r>
          </a:p>
        </p:txBody>
      </p:sp>
      <p:sp>
        <p:nvSpPr>
          <p:cNvPr id="222" name="Source files: course brief; causal-design protocol; project README"/>
          <p:cNvSpPr txBox="1"/>
          <p:nvPr/>
        </p:nvSpPr>
        <p:spPr>
          <a:xfrm>
            <a:off x="845819" y="6496050"/>
            <a:ext cx="84810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Source files: course brief; causal-design protocol; project README</a:t>
            </a:r>
          </a:p>
        </p:txBody>
      </p:sp>
      <p:sp>
        <p:nvSpPr>
          <p:cNvPr id="223" name="NLP &amp; the Investment Process | October 2026"/>
          <p:cNvSpPr txBox="1"/>
          <p:nvPr/>
        </p:nvSpPr>
        <p:spPr>
          <a:xfrm>
            <a:off x="8618219" y="6496050"/>
            <a:ext cx="28422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NLP &amp; the Investment Process | October 2026</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27" name="FINANCIAL FORECASTING IMPLICATION"/>
          <p:cNvSpPr txBox="1"/>
          <p:nvPr/>
        </p:nvSpPr>
        <p:spPr>
          <a:xfrm>
            <a:off x="731519" y="333375"/>
            <a:ext cx="5623561" cy="231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900">
                <a:solidFill>
                  <a:srgbClr val="2F75B5"/>
                </a:solidFill>
              </a:defRPr>
            </a:lvl1pPr>
          </a:lstStyle>
          <a:p>
            <a:r>
              <a:t>FINANCIAL FORECASTING IMPLICATION</a:t>
            </a:r>
          </a:p>
        </p:txBody>
      </p:sp>
      <p:sp>
        <p:nvSpPr>
          <p:cNvPr id="228" name="Release-day model-risk workflow"/>
          <p:cNvSpPr txBox="1"/>
          <p:nvPr/>
        </p:nvSpPr>
        <p:spPr>
          <a:xfrm>
            <a:off x="731519" y="647700"/>
            <a:ext cx="10386061" cy="459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a:solidFill>
                  <a:srgbClr val="17365D"/>
                </a:solidFill>
              </a:defRPr>
            </a:lvl1pPr>
          </a:lstStyle>
          <a:p>
            <a:r>
              <a:t>Release-day model-risk workflow</a:t>
            </a:r>
          </a:p>
        </p:txBody>
      </p:sp>
      <p:sp>
        <p:nvSpPr>
          <p:cNvPr id="229" name="Rectangle"/>
          <p:cNvSpPr/>
          <p:nvPr/>
        </p:nvSpPr>
        <p:spPr>
          <a:xfrm>
            <a:off x="685800" y="1438275"/>
            <a:ext cx="10820400" cy="19050"/>
          </a:xfrm>
          <a:prstGeom prst="rect">
            <a:avLst/>
          </a:prstGeom>
          <a:solidFill>
            <a:srgbClr val="2F75B5"/>
          </a:solidFill>
          <a:ln w="12700">
            <a:miter lim="400000"/>
          </a:ln>
        </p:spPr>
        <p:txBody>
          <a:bodyPr lIns="0" tIns="0" rIns="0" bIns="0"/>
          <a:lstStyle/>
          <a:p>
            <a:endParaRPr/>
          </a:p>
        </p:txBody>
      </p:sp>
      <p:sp>
        <p:nvSpPr>
          <p:cNvPr id="230" name="08"/>
          <p:cNvSpPr txBox="1"/>
          <p:nvPr/>
        </p:nvSpPr>
        <p:spPr>
          <a:xfrm>
            <a:off x="11142344" y="333375"/>
            <a:ext cx="308611" cy="218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800">
                <a:solidFill>
                  <a:srgbClr val="5B6573"/>
                </a:solidFill>
              </a:defRPr>
            </a:lvl1pPr>
          </a:lstStyle>
          <a:p>
            <a:r>
              <a:t>08</a:t>
            </a:r>
          </a:p>
        </p:txBody>
      </p:sp>
      <p:sp>
        <p:nvSpPr>
          <p:cNvPr id="231" name="The dashboard turns a sentiment gap into a documented decision"/>
          <p:cNvSpPr txBox="1"/>
          <p:nvPr/>
        </p:nvSpPr>
        <p:spPr>
          <a:xfrm>
            <a:off x="731519" y="1666875"/>
            <a:ext cx="8481061" cy="396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000">
                <a:solidFill>
                  <a:srgbClr val="17365D"/>
                </a:solidFill>
              </a:defRPr>
            </a:lvl1pPr>
          </a:lstStyle>
          <a:p>
            <a:r>
              <a:t>The dashboard turns a sentiment gap into a documented decision</a:t>
            </a:r>
          </a:p>
        </p:txBody>
      </p:sp>
      <p:sp>
        <p:nvSpPr>
          <p:cNvPr id="232" name="1"/>
          <p:cNvSpPr txBox="1"/>
          <p:nvPr/>
        </p:nvSpPr>
        <p:spPr>
          <a:xfrm>
            <a:off x="731519" y="2381250"/>
            <a:ext cx="232411" cy="370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2F75B5"/>
                </a:solidFill>
              </a:defRPr>
            </a:lvl1pPr>
          </a:lstStyle>
          <a:p>
            <a:r>
              <a:t>1</a:t>
            </a:r>
          </a:p>
        </p:txBody>
      </p:sp>
      <p:sp>
        <p:nvSpPr>
          <p:cNvPr id="233" name="Detect"/>
          <p:cNvSpPr txBox="1"/>
          <p:nvPr/>
        </p:nvSpPr>
        <p:spPr>
          <a:xfrm>
            <a:off x="1207769" y="2381250"/>
            <a:ext cx="1480187" cy="320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500">
                <a:solidFill>
                  <a:srgbClr val="17365D"/>
                </a:solidFill>
              </a:defRPr>
            </a:lvl1pPr>
          </a:lstStyle>
          <a:p>
            <a:r>
              <a:t>Detect</a:t>
            </a:r>
          </a:p>
        </p:txBody>
      </p:sp>
      <p:sp>
        <p:nvSpPr>
          <p:cNvPr id="234" name="Read sentiment, the prediction interval, data releases, and the partial-period status."/>
          <p:cNvSpPr txBox="1"/>
          <p:nvPr/>
        </p:nvSpPr>
        <p:spPr>
          <a:xfrm>
            <a:off x="2922270" y="2381250"/>
            <a:ext cx="7766685"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5B6573"/>
                </a:solidFill>
              </a:defRPr>
            </a:lvl1pPr>
          </a:lstStyle>
          <a:p>
            <a:r>
              <a:t>Read sentiment, the prediction interval, data releases, and the partial-period status.</a:t>
            </a:r>
          </a:p>
        </p:txBody>
      </p:sp>
      <p:sp>
        <p:nvSpPr>
          <p:cNvPr id="235" name="Rectangle"/>
          <p:cNvSpPr/>
          <p:nvPr/>
        </p:nvSpPr>
        <p:spPr>
          <a:xfrm>
            <a:off x="685800" y="2894012"/>
            <a:ext cx="10191750" cy="12701"/>
          </a:xfrm>
          <a:prstGeom prst="rect">
            <a:avLst/>
          </a:prstGeom>
          <a:solidFill>
            <a:srgbClr val="D9E2F3"/>
          </a:solidFill>
          <a:ln w="12700">
            <a:miter lim="400000"/>
          </a:ln>
        </p:spPr>
        <p:txBody>
          <a:bodyPr lIns="0" tIns="0" rIns="0" bIns="0"/>
          <a:lstStyle/>
          <a:p>
            <a:endParaRPr/>
          </a:p>
        </p:txBody>
      </p:sp>
      <p:sp>
        <p:nvSpPr>
          <p:cNvPr id="236" name="2"/>
          <p:cNvSpPr txBox="1"/>
          <p:nvPr/>
        </p:nvSpPr>
        <p:spPr>
          <a:xfrm>
            <a:off x="731519" y="3209925"/>
            <a:ext cx="232411" cy="370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2F75B5"/>
                </a:solidFill>
              </a:defRPr>
            </a:lvl1pPr>
          </a:lstStyle>
          <a:p>
            <a:r>
              <a:t>2</a:t>
            </a:r>
          </a:p>
        </p:txBody>
      </p:sp>
      <p:sp>
        <p:nvSpPr>
          <p:cNvPr id="237" name="Diagnose"/>
          <p:cNvSpPr txBox="1"/>
          <p:nvPr/>
        </p:nvSpPr>
        <p:spPr>
          <a:xfrm>
            <a:off x="1207769" y="3209925"/>
            <a:ext cx="1480187" cy="320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500">
                <a:solidFill>
                  <a:srgbClr val="17365D"/>
                </a:solidFill>
              </a:defRPr>
            </a:lvl1pPr>
          </a:lstStyle>
          <a:p>
            <a:r>
              <a:t>Diagnose</a:t>
            </a:r>
          </a:p>
        </p:txBody>
      </p:sp>
      <p:sp>
        <p:nvSpPr>
          <p:cNvPr id="238" name="Compare forecast versions. Check household controls, data vintages, revisions, and survey comparability."/>
          <p:cNvSpPr txBox="1"/>
          <p:nvPr/>
        </p:nvSpPr>
        <p:spPr>
          <a:xfrm>
            <a:off x="2922270" y="3209925"/>
            <a:ext cx="7766685"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5B6573"/>
                </a:solidFill>
              </a:defRPr>
            </a:lvl1pPr>
          </a:lstStyle>
          <a:p>
            <a:r>
              <a:t>Compare forecast versions. Check household controls, data vintages, revisions, and survey comparability.</a:t>
            </a:r>
          </a:p>
        </p:txBody>
      </p:sp>
      <p:sp>
        <p:nvSpPr>
          <p:cNvPr id="239" name="Rectangle"/>
          <p:cNvSpPr/>
          <p:nvPr/>
        </p:nvSpPr>
        <p:spPr>
          <a:xfrm>
            <a:off x="685800" y="3722687"/>
            <a:ext cx="10191750" cy="12701"/>
          </a:xfrm>
          <a:prstGeom prst="rect">
            <a:avLst/>
          </a:prstGeom>
          <a:solidFill>
            <a:srgbClr val="D9E2F3"/>
          </a:solidFill>
          <a:ln w="12700">
            <a:miter lim="400000"/>
          </a:ln>
        </p:spPr>
        <p:txBody>
          <a:bodyPr lIns="0" tIns="0" rIns="0" bIns="0"/>
          <a:lstStyle/>
          <a:p>
            <a:endParaRPr/>
          </a:p>
        </p:txBody>
      </p:sp>
      <p:sp>
        <p:nvSpPr>
          <p:cNvPr id="240" name="3"/>
          <p:cNvSpPr txBox="1"/>
          <p:nvPr/>
        </p:nvSpPr>
        <p:spPr>
          <a:xfrm>
            <a:off x="731519" y="4038600"/>
            <a:ext cx="232411" cy="370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2F75B5"/>
                </a:solidFill>
              </a:defRPr>
            </a:lvl1pPr>
          </a:lstStyle>
          <a:p>
            <a:r>
              <a:t>3</a:t>
            </a:r>
          </a:p>
        </p:txBody>
      </p:sp>
      <p:sp>
        <p:nvSpPr>
          <p:cNvPr id="241" name="Review"/>
          <p:cNvSpPr txBox="1"/>
          <p:nvPr/>
        </p:nvSpPr>
        <p:spPr>
          <a:xfrm>
            <a:off x="1207769" y="4038600"/>
            <a:ext cx="1480187" cy="320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500">
                <a:solidFill>
                  <a:srgbClr val="17365D"/>
                </a:solidFill>
              </a:defRPr>
            </a:lvl1pPr>
          </a:lstStyle>
          <a:p>
            <a:r>
              <a:t>Review</a:t>
            </a:r>
          </a:p>
        </p:txBody>
      </p:sp>
      <p:sp>
        <p:nvSpPr>
          <p:cNvPr id="242" name="Use validated tone, prominence, framing, fact checks, and source comparisons as context."/>
          <p:cNvSpPr txBox="1"/>
          <p:nvPr/>
        </p:nvSpPr>
        <p:spPr>
          <a:xfrm>
            <a:off x="2922270" y="4038600"/>
            <a:ext cx="7766685"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5B6573"/>
                </a:solidFill>
              </a:defRPr>
            </a:lvl1pPr>
          </a:lstStyle>
          <a:p>
            <a:r>
              <a:t>Use validated tone, prominence, framing, fact checks, and source comparisons as context.</a:t>
            </a:r>
          </a:p>
        </p:txBody>
      </p:sp>
      <p:sp>
        <p:nvSpPr>
          <p:cNvPr id="243" name="Rectangle"/>
          <p:cNvSpPr/>
          <p:nvPr/>
        </p:nvSpPr>
        <p:spPr>
          <a:xfrm>
            <a:off x="685800" y="4551362"/>
            <a:ext cx="10191750" cy="12701"/>
          </a:xfrm>
          <a:prstGeom prst="rect">
            <a:avLst/>
          </a:prstGeom>
          <a:solidFill>
            <a:srgbClr val="D9E2F3"/>
          </a:solidFill>
          <a:ln w="12700">
            <a:miter lim="400000"/>
          </a:ln>
        </p:spPr>
        <p:txBody>
          <a:bodyPr lIns="0" tIns="0" rIns="0" bIns="0"/>
          <a:lstStyle/>
          <a:p>
            <a:endParaRPr/>
          </a:p>
        </p:txBody>
      </p:sp>
      <p:sp>
        <p:nvSpPr>
          <p:cNvPr id="244" name="4"/>
          <p:cNvSpPr txBox="1"/>
          <p:nvPr/>
        </p:nvSpPr>
        <p:spPr>
          <a:xfrm>
            <a:off x="731519" y="4867275"/>
            <a:ext cx="232411" cy="370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2F75B5"/>
                </a:solidFill>
              </a:defRPr>
            </a:lvl1pPr>
          </a:lstStyle>
          <a:p>
            <a:r>
              <a:t>4</a:t>
            </a:r>
          </a:p>
        </p:txBody>
      </p:sp>
      <p:sp>
        <p:nvSpPr>
          <p:cNvPr id="245" name="Archive"/>
          <p:cNvSpPr txBox="1"/>
          <p:nvPr/>
        </p:nvSpPr>
        <p:spPr>
          <a:xfrm>
            <a:off x="1207769" y="4867275"/>
            <a:ext cx="1480187" cy="320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500">
                <a:solidFill>
                  <a:srgbClr val="17365D"/>
                </a:solidFill>
              </a:defRPr>
            </a:lvl1pPr>
          </a:lstStyle>
          <a:p>
            <a:r>
              <a:t>Archive</a:t>
            </a:r>
          </a:p>
        </p:txBody>
      </p:sp>
      <p:sp>
        <p:nvSpPr>
          <p:cNvPr id="246" name="Save inputs, labels, vintages, performance, event logs, and missing data before any forecast decision."/>
          <p:cNvSpPr txBox="1"/>
          <p:nvPr/>
        </p:nvSpPr>
        <p:spPr>
          <a:xfrm>
            <a:off x="2922270" y="4867275"/>
            <a:ext cx="7766685"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5B6573"/>
                </a:solidFill>
              </a:defRPr>
            </a:lvl1pPr>
          </a:lstStyle>
          <a:p>
            <a:r>
              <a:t>Save inputs, labels, vintages, performance, event logs, and missing data before any forecast decision.</a:t>
            </a:r>
          </a:p>
        </p:txBody>
      </p:sp>
      <p:sp>
        <p:nvSpPr>
          <p:cNvPr id="247" name="Rectangle"/>
          <p:cNvSpPr/>
          <p:nvPr/>
        </p:nvSpPr>
        <p:spPr>
          <a:xfrm>
            <a:off x="685800" y="5380037"/>
            <a:ext cx="10191750" cy="12701"/>
          </a:xfrm>
          <a:prstGeom prst="rect">
            <a:avLst/>
          </a:prstGeom>
          <a:solidFill>
            <a:srgbClr val="D9E2F3"/>
          </a:solidFill>
          <a:ln w="12700">
            <a:miter lim="400000"/>
          </a:ln>
        </p:spPr>
        <p:txBody>
          <a:bodyPr lIns="0" tIns="0" rIns="0" bIns="0"/>
          <a:lstStyle/>
          <a:p>
            <a:endParaRPr/>
          </a:p>
        </p:txBody>
      </p:sp>
      <p:sp>
        <p:nvSpPr>
          <p:cNvPr id="248" name="Practical implication: the workflow can widen uncertainty or keep the forecast unchanged while evidence is incomplete. It should not make automatic forecast changes based on narratives."/>
          <p:cNvSpPr txBox="1"/>
          <p:nvPr/>
        </p:nvSpPr>
        <p:spPr>
          <a:xfrm>
            <a:off x="731519" y="5934075"/>
            <a:ext cx="10005061" cy="548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500">
                <a:solidFill>
                  <a:srgbClr val="17365D"/>
                </a:solidFill>
              </a:defRPr>
            </a:lvl1pPr>
          </a:lstStyle>
          <a:p>
            <a:r>
              <a:t>Practical implication: the workflow can widen uncertainty or keep the forecast unchanged while evidence is incomplete. It should not make automatic forecast changes based on narratives.</a:t>
            </a:r>
          </a:p>
        </p:txBody>
      </p:sp>
      <p:sp>
        <p:nvSpPr>
          <p:cNvPr id="249" name="Sources: dashboard/README.md; data/processed/run_summary.json; project documentation"/>
          <p:cNvSpPr txBox="1"/>
          <p:nvPr/>
        </p:nvSpPr>
        <p:spPr>
          <a:xfrm>
            <a:off x="845819" y="6496050"/>
            <a:ext cx="84810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Sources: dashboard/README.md; data/processed/run_summary.json; project documentation</a:t>
            </a:r>
          </a:p>
        </p:txBody>
      </p:sp>
      <p:sp>
        <p:nvSpPr>
          <p:cNvPr id="250" name="NLP &amp; the Investment Process | October 2026"/>
          <p:cNvSpPr txBox="1"/>
          <p:nvPr/>
        </p:nvSpPr>
        <p:spPr>
          <a:xfrm>
            <a:off x="8618219" y="6496050"/>
            <a:ext cx="28422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NLP &amp; the Investment Process | October 2026</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SELECTED SOURCES"/>
          <p:cNvSpPr txBox="1"/>
          <p:nvPr/>
        </p:nvSpPr>
        <p:spPr>
          <a:xfrm>
            <a:off x="731519" y="333375"/>
            <a:ext cx="5623561" cy="231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900">
                <a:solidFill>
                  <a:srgbClr val="2F75B5"/>
                </a:solidFill>
              </a:defRPr>
            </a:lvl1pPr>
          </a:lstStyle>
          <a:p>
            <a:r>
              <a:t>SELECTED SOURCES</a:t>
            </a:r>
          </a:p>
        </p:txBody>
      </p:sp>
      <p:sp>
        <p:nvSpPr>
          <p:cNvPr id="255" name="References"/>
          <p:cNvSpPr txBox="1"/>
          <p:nvPr/>
        </p:nvSpPr>
        <p:spPr>
          <a:xfrm>
            <a:off x="731519" y="647700"/>
            <a:ext cx="10386061" cy="459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a:solidFill>
                  <a:srgbClr val="17365D"/>
                </a:solidFill>
              </a:defRPr>
            </a:lvl1pPr>
          </a:lstStyle>
          <a:p>
            <a:r>
              <a:t>References</a:t>
            </a:r>
          </a:p>
        </p:txBody>
      </p:sp>
      <p:sp>
        <p:nvSpPr>
          <p:cNvPr id="256" name="Rectangle"/>
          <p:cNvSpPr/>
          <p:nvPr/>
        </p:nvSpPr>
        <p:spPr>
          <a:xfrm>
            <a:off x="685800" y="1438275"/>
            <a:ext cx="10820400" cy="19050"/>
          </a:xfrm>
          <a:prstGeom prst="rect">
            <a:avLst/>
          </a:prstGeom>
          <a:solidFill>
            <a:srgbClr val="2F75B5"/>
          </a:solidFill>
          <a:ln w="12700">
            <a:miter lim="400000"/>
          </a:ln>
        </p:spPr>
        <p:txBody>
          <a:bodyPr lIns="0" tIns="0" rIns="0" bIns="0"/>
          <a:lstStyle/>
          <a:p>
            <a:endParaRPr/>
          </a:p>
        </p:txBody>
      </p:sp>
      <p:sp>
        <p:nvSpPr>
          <p:cNvPr id="257" name="09"/>
          <p:cNvSpPr txBox="1"/>
          <p:nvPr/>
        </p:nvSpPr>
        <p:spPr>
          <a:xfrm>
            <a:off x="11142344" y="333375"/>
            <a:ext cx="308611" cy="218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800">
                <a:solidFill>
                  <a:srgbClr val="5B6573"/>
                </a:solidFill>
              </a:defRPr>
            </a:lvl1pPr>
          </a:lstStyle>
          <a:p>
            <a:r>
              <a:t>09</a:t>
            </a:r>
          </a:p>
        </p:txBody>
      </p:sp>
      <p:sp>
        <p:nvSpPr>
          <p:cNvPr id="258" name="Full citations and project-artifact references appear in the written report."/>
          <p:cNvSpPr txBox="1"/>
          <p:nvPr/>
        </p:nvSpPr>
        <p:spPr>
          <a:xfrm>
            <a:off x="731519" y="1619250"/>
            <a:ext cx="8862061" cy="320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500">
                <a:solidFill>
                  <a:srgbClr val="5B6573"/>
                </a:solidFill>
              </a:defRPr>
            </a:lvl1pPr>
          </a:lstStyle>
          <a:p>
            <a:r>
              <a:t>Full citations and project-artifact references appear in the written report.</a:t>
            </a:r>
          </a:p>
        </p:txBody>
      </p:sp>
      <p:sp>
        <p:nvSpPr>
          <p:cNvPr id="259" name="•"/>
          <p:cNvSpPr txBox="1"/>
          <p:nvPr/>
        </p:nvSpPr>
        <p:spPr>
          <a:xfrm>
            <a:off x="731519" y="219075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t>
            </a:r>
          </a:p>
        </p:txBody>
      </p:sp>
      <p:sp>
        <p:nvSpPr>
          <p:cNvPr id="260" name="University of Michigan, Surveys of Consumers: survey description, technical documentation, and methodology transition materials."/>
          <p:cNvSpPr txBox="1"/>
          <p:nvPr/>
        </p:nvSpPr>
        <p:spPr>
          <a:xfrm>
            <a:off x="998219" y="2190750"/>
            <a:ext cx="983361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2033"/>
                </a:solidFill>
              </a:defRPr>
            </a:lvl1pPr>
          </a:lstStyle>
          <a:p>
            <a:r>
              <a:t>University of Michigan, Surveys of Consumers: survey description, technical documentation, and methodology transition materials.</a:t>
            </a:r>
          </a:p>
        </p:txBody>
      </p:sp>
      <p:sp>
        <p:nvSpPr>
          <p:cNvPr id="261" name="•"/>
          <p:cNvSpPr txBox="1"/>
          <p:nvPr/>
        </p:nvSpPr>
        <p:spPr>
          <a:xfrm>
            <a:off x="731519" y="2733675"/>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t>
            </a:r>
          </a:p>
        </p:txBody>
      </p:sp>
      <p:sp>
        <p:nvSpPr>
          <p:cNvPr id="262" name="Federal Reserve Bank of St. Louis: ALFRED real-time macroeconomic data and release vintages."/>
          <p:cNvSpPr txBox="1"/>
          <p:nvPr/>
        </p:nvSpPr>
        <p:spPr>
          <a:xfrm>
            <a:off x="998219" y="2733675"/>
            <a:ext cx="983361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2033"/>
                </a:solidFill>
              </a:defRPr>
            </a:lvl1pPr>
          </a:lstStyle>
          <a:p>
            <a:r>
              <a:t>Federal Reserve Bank of St. Louis: ALFRED real-time macroeconomic data and release vintages.</a:t>
            </a:r>
          </a:p>
        </p:txBody>
      </p:sp>
      <p:sp>
        <p:nvSpPr>
          <p:cNvPr id="263" name="•"/>
          <p:cNvSpPr txBox="1"/>
          <p:nvPr/>
        </p:nvSpPr>
        <p:spPr>
          <a:xfrm>
            <a:off x="731519" y="327660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t>
            </a:r>
          </a:p>
        </p:txBody>
      </p:sp>
      <p:sp>
        <p:nvSpPr>
          <p:cNvPr id="264" name="U.S. Bureau of Labor Statistics: Current Population Survey labor-force statistics."/>
          <p:cNvSpPr txBox="1"/>
          <p:nvPr/>
        </p:nvSpPr>
        <p:spPr>
          <a:xfrm>
            <a:off x="998219" y="3276600"/>
            <a:ext cx="983361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2033"/>
                </a:solidFill>
              </a:defRPr>
            </a:lvl1pPr>
          </a:lstStyle>
          <a:p>
            <a:r>
              <a:t>U.S. Bureau of Labor Statistics: Current Population Survey labor-force statistics.</a:t>
            </a:r>
          </a:p>
        </p:txBody>
      </p:sp>
      <p:sp>
        <p:nvSpPr>
          <p:cNvPr id="265" name="•"/>
          <p:cNvSpPr txBox="1"/>
          <p:nvPr/>
        </p:nvSpPr>
        <p:spPr>
          <a:xfrm>
            <a:off x="731519" y="3819525"/>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t>
            </a:r>
          </a:p>
        </p:txBody>
      </p:sp>
      <p:sp>
        <p:nvSpPr>
          <p:cNvPr id="266" name="U.S. Bureau of Economic Analysis: consumer spending, PCE, income, and GDP data."/>
          <p:cNvSpPr txBox="1"/>
          <p:nvPr/>
        </p:nvSpPr>
        <p:spPr>
          <a:xfrm>
            <a:off x="998219" y="3819525"/>
            <a:ext cx="983361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2033"/>
                </a:solidFill>
              </a:defRPr>
            </a:lvl1pPr>
          </a:lstStyle>
          <a:p>
            <a:r>
              <a:t>U.S. Bureau of Economic Analysis: consumer spending, PCE, income, and GDP data.</a:t>
            </a:r>
          </a:p>
        </p:txBody>
      </p:sp>
      <p:sp>
        <p:nvSpPr>
          <p:cNvPr id="267" name="•"/>
          <p:cNvSpPr txBox="1"/>
          <p:nvPr/>
        </p:nvSpPr>
        <p:spPr>
          <a:xfrm>
            <a:off x="731519" y="4362450"/>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t>
            </a:r>
          </a:p>
        </p:txBody>
      </p:sp>
      <p:sp>
        <p:nvSpPr>
          <p:cNvPr id="268" name="Baker, Bloom, and Davis: Economic Policy Uncertainty methodology and index documentation."/>
          <p:cNvSpPr txBox="1"/>
          <p:nvPr/>
        </p:nvSpPr>
        <p:spPr>
          <a:xfrm>
            <a:off x="998219" y="4362450"/>
            <a:ext cx="983361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2033"/>
                </a:solidFill>
              </a:defRPr>
            </a:lvl1pPr>
          </a:lstStyle>
          <a:p>
            <a:r>
              <a:t>Baker, Bloom, and Davis: Economic Policy Uncertainty methodology and index documentation.</a:t>
            </a:r>
          </a:p>
        </p:txBody>
      </p:sp>
      <p:sp>
        <p:nvSpPr>
          <p:cNvPr id="269" name="•"/>
          <p:cNvSpPr txBox="1"/>
          <p:nvPr/>
        </p:nvSpPr>
        <p:spPr>
          <a:xfrm>
            <a:off x="731519" y="4905375"/>
            <a:ext cx="80011" cy="127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2F75B5"/>
                </a:solidFill>
              </a:defRPr>
            </a:lvl1pPr>
          </a:lstStyle>
          <a:p>
            <a:r>
              <a:t>•</a:t>
            </a:r>
          </a:p>
        </p:txBody>
      </p:sp>
      <p:sp>
        <p:nvSpPr>
          <p:cNvPr id="270" name="Project repository: reproducible notebook, dashboard payload, validation protocol, and causal-design protocol."/>
          <p:cNvSpPr txBox="1"/>
          <p:nvPr/>
        </p:nvSpPr>
        <p:spPr>
          <a:xfrm>
            <a:off x="998219" y="4905375"/>
            <a:ext cx="9833611" cy="26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solidFill>
                  <a:srgbClr val="172033"/>
                </a:solidFill>
              </a:defRPr>
            </a:lvl1pPr>
          </a:lstStyle>
          <a:p>
            <a:r>
              <a:t>Project repository: reproducible notebook, dashboard payload, validation protocol, and causal-design protocol.</a:t>
            </a:r>
          </a:p>
        </p:txBody>
      </p:sp>
      <p:sp>
        <p:nvSpPr>
          <p:cNvPr id="271" name="Full references: AI Economic Perceptions and Consumer Sentiment report"/>
          <p:cNvSpPr txBox="1"/>
          <p:nvPr/>
        </p:nvSpPr>
        <p:spPr>
          <a:xfrm>
            <a:off x="845819" y="6496050"/>
            <a:ext cx="84810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Full references: AI Economic Perceptions and Consumer Sentiment report</a:t>
            </a:r>
          </a:p>
        </p:txBody>
      </p:sp>
      <p:sp>
        <p:nvSpPr>
          <p:cNvPr id="272" name="NLP &amp; the Investment Process | October 2026"/>
          <p:cNvSpPr txBox="1"/>
          <p:nvPr/>
        </p:nvSpPr>
        <p:spPr>
          <a:xfrm>
            <a:off x="8618219" y="6496050"/>
            <a:ext cx="2842261" cy="1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600">
                <a:solidFill>
                  <a:srgbClr val="5B6573"/>
                </a:solidFill>
              </a:defRPr>
            </a:lvl1pPr>
          </a:lstStyle>
          <a:p>
            <a:r>
              <a:t>NLP &amp; the Investment Process | October 2026</a:t>
            </a:r>
          </a:p>
        </p:txBody>
      </p:sp>
    </p:spTree>
  </p:cSld>
  <p:clrMapOvr>
    <a:masterClrMapping/>
  </p:clrMapOvr>
  <p:transition spd="med"/>
</p:sld>
</file>

<file path=ppt/theme/theme1.xml><?xml version="1.0" encoding="utf-8"?>
<a:theme xmlns:a="http://schemas.openxmlformats.org/drawingml/2006/main"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a:ea typeface="Helvetica"/>
        <a:cs typeface="Helvetica"/>
      </a:majorFont>
      <a:minorFont>
        <a:latin typeface="Helvetica Neue"/>
        <a:ea typeface="Helvetica Neue"/>
        <a:cs typeface="Helvetica Neue"/>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a:ea typeface="Helvetica"/>
        <a:cs typeface="Helvetica"/>
      </a:majorFont>
      <a:minorFont>
        <a:latin typeface="Helvetica Neue"/>
        <a:ea typeface="Helvetica Neue"/>
        <a:cs typeface="Helvetica Neue"/>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TotalTime>
  <Words>2095</Words>
  <Application>Microsoft Macintosh PowerPoint</Application>
  <PresentationFormat>Widescreen</PresentationFormat>
  <Paragraphs>199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Helvetica</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alan wang</cp:lastModifiedBy>
  <cp:revision>9</cp:revision>
  <dcterms:modified xsi:type="dcterms:W3CDTF">2026-10-17T01:11:27Z</dcterms:modified>
</cp:coreProperties>
</file>