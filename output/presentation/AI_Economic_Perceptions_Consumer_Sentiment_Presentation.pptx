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df13cf43094748" /><Relationship Type="http://schemas.openxmlformats.org/officeDocument/2006/relationships/extended-properties" Target="/docProps/app.xml" Id="Rbd28cb99fa4e4a4c" /><Relationship Type="http://schemas.openxmlformats.org/officeDocument/2006/relationships/officeDocument" Target="/ppt/presentation.xml" Id="Rd7c05e973495426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bdf0e9c65164459"/>
  </p:sldMasterIdLst>
  <p:notesMasterIdLst>
    <p:notesMasterId xmlns:r="http://schemas.openxmlformats.org/officeDocument/2006/relationships" r:id="R1210bb8954804828"/>
  </p:notesMasterIdLst>
  <p:sldIdLst>
    <p:sldId xmlns:r="http://schemas.openxmlformats.org/officeDocument/2006/relationships" id="256" r:id="Rac2dd0d164264f03"/>
    <p:sldId xmlns:r="http://schemas.openxmlformats.org/officeDocument/2006/relationships" id="257" r:id="R4e4079049c2441d3"/>
    <p:sldId xmlns:r="http://schemas.openxmlformats.org/officeDocument/2006/relationships" id="258" r:id="R2b7cf78c5dc44102"/>
    <p:sldId xmlns:r="http://schemas.openxmlformats.org/officeDocument/2006/relationships" id="259" r:id="Rea64e5633d774e5b"/>
    <p:sldId xmlns:r="http://schemas.openxmlformats.org/officeDocument/2006/relationships" id="260" r:id="R147a627184f24e42"/>
    <p:sldId xmlns:r="http://schemas.openxmlformats.org/officeDocument/2006/relationships" id="261" r:id="Rfb28dcaeece542d2"/>
    <p:sldId xmlns:r="http://schemas.openxmlformats.org/officeDocument/2006/relationships" id="262" r:id="R163c004bdcda4164"/>
    <p:sldId xmlns:r="http://schemas.openxmlformats.org/officeDocument/2006/relationships" id="263" r:id="R4d296f37ff1f47be"/>
    <p:sldId xmlns:r="http://schemas.openxmlformats.org/officeDocument/2006/relationships" id="264" r:id="Rc5431ba530904ae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de4d568497141de" /><Relationship Type="http://schemas.openxmlformats.org/officeDocument/2006/relationships/slideMaster" Target="/ppt/slideMasters/slideMaster1.xml" Id="Rebdf0e9c65164459" /><Relationship Type="http://schemas.openxmlformats.org/officeDocument/2006/relationships/notesMaster" Target="/ppt/notesMasters/notesMaster1.xml" Id="R1210bb8954804828" /><Relationship Type="http://schemas.openxmlformats.org/officeDocument/2006/relationships/presProps" Target="/ppt/presProps.xml" Id="R8d303040c4134cca" /><Relationship Type="http://schemas.openxmlformats.org/officeDocument/2006/relationships/tableStyles" Target="/ppt/tableStyles.xml" Id="Rd7d5cb31cec542d1" /><Relationship Type="http://schemas.openxmlformats.org/officeDocument/2006/relationships/slide" Target="/ppt/slides/slide1.xml" Id="Rac2dd0d164264f03" /><Relationship Type="http://schemas.openxmlformats.org/officeDocument/2006/relationships/slide" Target="/ppt/slides/slide2.xml" Id="R4e4079049c2441d3" /><Relationship Type="http://schemas.openxmlformats.org/officeDocument/2006/relationships/slide" Target="/ppt/slides/slide3.xml" Id="R2b7cf78c5dc44102" /><Relationship Type="http://schemas.openxmlformats.org/officeDocument/2006/relationships/slide" Target="/ppt/slides/slide4.xml" Id="Rea64e5633d774e5b" /><Relationship Type="http://schemas.openxmlformats.org/officeDocument/2006/relationships/slide" Target="/ppt/slides/slide5.xml" Id="R147a627184f24e42" /><Relationship Type="http://schemas.openxmlformats.org/officeDocument/2006/relationships/slide" Target="/ppt/slides/slide6.xml" Id="Rfb28dcaeece542d2" /><Relationship Type="http://schemas.openxmlformats.org/officeDocument/2006/relationships/slide" Target="/ppt/slides/slide7.xml" Id="R163c004bdcda4164" /><Relationship Type="http://schemas.openxmlformats.org/officeDocument/2006/relationships/slide" Target="/ppt/slides/slide8.xml" Id="R4d296f37ff1f47be" /><Relationship Type="http://schemas.openxmlformats.org/officeDocument/2006/relationships/slide" Target="/ppt/slides/slide9.xml" Id="Rc5431ba530904ae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0a3795681b4a8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2ad9b46fe47462c" /><Relationship Type="http://schemas.openxmlformats.org/officeDocument/2006/relationships/notesMaster" Target="/ppt/notesMasters/notesMaster1.xml" Id="Reaf795e3e0e748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473878e00054669" /><Relationship Type="http://schemas.openxmlformats.org/officeDocument/2006/relationships/notesMaster" Target="/ppt/notesMasters/notesMaster1.xml" Id="R439eb2ee5b784fe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6daebf845494d20" /><Relationship Type="http://schemas.openxmlformats.org/officeDocument/2006/relationships/notesMaster" Target="/ppt/notesMasters/notesMaster1.xml" Id="R0fdbcf8cbdc148c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46a6ee0ea924634" /><Relationship Type="http://schemas.openxmlformats.org/officeDocument/2006/relationships/notesMaster" Target="/ppt/notesMasters/notesMaster1.xml" Id="R6afcb36b773b4b6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bc5961e34ef41e7" /><Relationship Type="http://schemas.openxmlformats.org/officeDocument/2006/relationships/notesMaster" Target="/ppt/notesMasters/notesMaster1.xml" Id="R4e718d20346f4b4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501fa1cab7b4d2b" /><Relationship Type="http://schemas.openxmlformats.org/officeDocument/2006/relationships/notesMaster" Target="/ppt/notesMasters/notesMaster1.xml" Id="R0578c37f7bab439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da92d9be68142e2" /><Relationship Type="http://schemas.openxmlformats.org/officeDocument/2006/relationships/notesMaster" Target="/ppt/notesMasters/notesMaster1.xml" Id="R32be1fbefd9b4c9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e42e736f13342d0" /><Relationship Type="http://schemas.openxmlformats.org/officeDocument/2006/relationships/notesMaster" Target="/ppt/notesMasters/notesMaster1.xml" Id="Rc3bfccfcc94944e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5ae2f6304514a30" /><Relationship Type="http://schemas.openxmlformats.org/officeDocument/2006/relationships/notesMaster" Target="/ppt/notesMasters/notesMaster1.xml" Id="R9f1013aa2ecf418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decision problem. The presentation follows the analyst’s workflow from an observed sentiment gap to a documented forecast or risk-management response.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Project repository outputs and documentation as cited on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begins the narrative. A gap should direct the analyst toward competing explanations rather than directly changing a forecast or labeling consumer views irrational.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Project repository outputs and documentation as cited on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workflow establishes what was knowable at the decision date. That prevents later data revisions or unvalidated text labels from being mistaken for contemporaneous forecasting information.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Project repository outputs and documentation as cited on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Narrative data can support diagnostic review only after validation. Moderate human agreement requires documented adjudication and transparent uncertainty, rather than treating machine labels as a second independent rater.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Project repository outputs and documentation as cited on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main forecasting result. Broader household-relevant controls improve the baseline, while historical media tone does not improve common-sample MAE. The supplementary extension is deliberately narrow and does not create a causal household-distress estimate.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Project repository outputs and documentation as cited on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historical association is useful for triage because it identifies a repeatable relationship. The future-media placebo is only a timing diagnostic. It does not establish causality because several unobserved pathways remain plausible.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Project repository outputs and documentation as cited on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delivers the practical implication. The risk manager may use narrative measures as a governed overlay that triggers review, preserves uncertainty, and requests corroborating information before any forecast adjustment.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Project repository outputs and documentation as cited on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practical implication. The contribution is a repeatable model-risk process that makes uncertainty, data timing, and measurement limits visible before a forecast or risk decision.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Project repository outputs and documentation as cited on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directing the audience to the written report for complete citations, the reproducible notebook for analysis, and the dashboard for the current monitoring snapshot.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Project repository outputs and documentation as cited on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28fcb6dc6c4f9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fc8f810bbc40e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6f4d02a8c8413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d5c390bd1844e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7d3fc0a0fd4af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6172a45d6d4dd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7DD4490-CB60-4BFC-A689-9642D911AC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FEDDCBC-0F0B-4D7B-A3D5-6F670E6FD6D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B42CFE9-0BB7-4535-A2A5-47DB539EB9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D7D1258-D30A-40C7-ACE7-C23F814BDD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CD12CE2-909A-4BDF-992B-763045A4199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3A9132F-2650-425C-8DB5-7CB185C91E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FFBC039-9FD4-419C-B848-7F08A7243FA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37D6058-308A-424B-809B-B3A89F71BE8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5F8E9E3-F292-46F7-94E8-98310393F9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B51F3D2-72D5-461F-8A82-2FDBC993EF9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5ff245d2f8841cd" /><Relationship Type="http://schemas.openxmlformats.org/officeDocument/2006/relationships/slideLayout" Target="/ppt/slideLayouts/slideLayout1.xml" Id="Re189ca5f64754211" /><Relationship Type="http://schemas.openxmlformats.org/officeDocument/2006/relationships/slideLayout" Target="/ppt/slideLayouts/slideLayout2.xml" Id="R4e4b663bc2304f79" /><Relationship Type="http://schemas.openxmlformats.org/officeDocument/2006/relationships/slideLayout" Target="/ppt/slideLayouts/slideLayout3.xml" Id="Rf6441ad8d7fb4ea1" /><Relationship Type="http://schemas.openxmlformats.org/officeDocument/2006/relationships/slideLayout" Target="/ppt/slideLayouts/slideLayout4.xml" Id="Rf110234a39134981" /><Relationship Type="http://schemas.openxmlformats.org/officeDocument/2006/relationships/slideLayout" Target="/ppt/slideLayouts/slideLayout5.xml" Id="R9bca4223d82a4c53" /><Relationship Type="http://schemas.openxmlformats.org/officeDocument/2006/relationships/slideLayout" Target="/ppt/slideLayouts/slideLayout6.xml" Id="Rcba9609a92a64de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189ca5f64754211"/>
    <p:sldLayoutId xmlns:r="http://schemas.openxmlformats.org/officeDocument/2006/relationships" id="2147483650" r:id="R4e4b663bc2304f79"/>
    <p:sldLayoutId xmlns:r="http://schemas.openxmlformats.org/officeDocument/2006/relationships" id="2147483651" r:id="Rf6441ad8d7fb4ea1"/>
    <p:sldLayoutId xmlns:r="http://schemas.openxmlformats.org/officeDocument/2006/relationships" id="2147483652" r:id="Rf110234a39134981"/>
    <p:sldLayoutId xmlns:r="http://schemas.openxmlformats.org/officeDocument/2006/relationships" id="2147483653" r:id="R9bca4223d82a4c53"/>
    <p:sldLayoutId xmlns:r="http://schemas.openxmlformats.org/officeDocument/2006/relationships" id="2147483654" r:id="Rcba9609a92a64de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0d1438dd454d5d" /><Relationship Type="http://schemas.openxmlformats.org/officeDocument/2006/relationships/notesSlide" Target="/ppt/notesSlides/notesSlide1.xml" Id="Re6b314a373b744e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3e59b8a80a43cb" /><Relationship Type="http://schemas.openxmlformats.org/officeDocument/2006/relationships/notesSlide" Target="/ppt/notesSlides/notesSlide2.xml" Id="Red4e10bff6f749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43894b19f647a4" /><Relationship Type="http://schemas.openxmlformats.org/officeDocument/2006/relationships/notesSlide" Target="/ppt/notesSlides/notesSlide3.xml" Id="Rcdd2a5c621e7405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d4226067ca4bd2" /><Relationship Type="http://schemas.openxmlformats.org/officeDocument/2006/relationships/notesSlide" Target="/ppt/notesSlides/notesSlide4.xml" Id="R2f727bc5df10460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b304bac8b4449d" /><Relationship Type="http://schemas.openxmlformats.org/officeDocument/2006/relationships/chart" Target="/ppt/slides/charts/chart1.xml" Id="Rbdea8a310b624e1f" /><Relationship Type="http://schemas.openxmlformats.org/officeDocument/2006/relationships/notesSlide" Target="/ppt/notesSlides/notesSlide5.xml" Id="R981a520a1726417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b2ced945464478" /><Relationship Type="http://schemas.openxmlformats.org/officeDocument/2006/relationships/chart" Target="/ppt/slides/charts/chart2.xml" Id="Rd46580ad27a74e64" /><Relationship Type="http://schemas.openxmlformats.org/officeDocument/2006/relationships/notesSlide" Target="/ppt/notesSlides/notesSlide6.xml" Id="R13059b6bcbf5411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8bdff49a754986" /><Relationship Type="http://schemas.openxmlformats.org/officeDocument/2006/relationships/notesSlide" Target="/ppt/notesSlides/notesSlide7.xml" Id="R9d2a8a1645b54ed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809538ce47461f" /><Relationship Type="http://schemas.openxmlformats.org/officeDocument/2006/relationships/notesSlide" Target="/ppt/notesSlides/notesSlide8.xml" Id="Ra2fbc651b49c4ff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e2ffba500b4f25" /><Relationship Type="http://schemas.openxmlformats.org/officeDocument/2006/relationships/notesSlide" Target="/ppt/notesSlides/notesSlide9.xml" Id="R942a7b801fd94795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MAE</c:v>
          </c:tx>
          <c:spPr>
            <a:solidFill xmlns:a="http://schemas.openxmlformats.org/drawingml/2006/main">
              <a:srgbClr val="2F75B5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Economic only</c:v>
                </c:pt>
                <c:pt idx="1">
                  <c:v>Household-stress proxy</c:v>
                </c:pt>
                <c:pt idx="2">
                  <c:v>Expanded controls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12.579</c:v>
                </c:pt>
                <c:pt idx="1">
                  <c:v>8.178</c:v>
                </c:pt>
                <c:pt idx="2">
                  <c:v>4.467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D9E2F3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F3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Association</c:v>
          </c:tx>
          <c:spPr>
            <a:solidFill xmlns:a="http://schemas.openxmlformats.org/drawingml/2006/main">
              <a:srgbClr val="C0504D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Headline sentiment</c:v>
                </c:pt>
                <c:pt idx="1">
                  <c:v>Current conditions</c:v>
                </c:pt>
                <c:pt idx="2">
                  <c:v>Expectations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-8.09</c:v>
                </c:pt>
                <c:pt idx="1">
                  <c:v>-8.44</c:v>
                </c:pt>
                <c:pt idx="2">
                  <c:v>-7.31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D9E2F3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"/>
          <c:min val="-1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F3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976409-4C4D-4B1F-8159-E28A9EBDF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326863-CE37-432C-9238-59A895E0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825" b="1">
                <a:solidFill>
                  <a:srgbClr val="2F75B5"/>
                </a:solidFill>
              </a:defRPr>
            </a:pPr>
            <a:r>
              <a:rPr sz="825" b="1">
                <a:solidFill>
                  <a:srgbClr val="2F75B5"/>
                </a:solidFill>
              </a:rPr>
              <a:t>FINAL PROJECT | NATURAL LANGUAGE PROCESSING (NLP) &amp; THE INVESTMENT PROCESS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7880FA-CE80-4673-A90D-B2CEC2DC5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7239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3375" b="1">
                <a:solidFill>
                  <a:srgbClr val="17365D"/>
                </a:solidFill>
              </a:defRPr>
            </a:pPr>
            <a:r>
              <a:rPr sz="3375" b="1">
                <a:solidFill>
                  <a:srgbClr val="17365D"/>
                </a:solidFill>
              </a:rPr>
              <a:t>When consumer sentiment</a:t>
            </a:r>
          </a:p>
          <a:p xmlns:a="http://schemas.openxmlformats.org/drawingml/2006/main">
            <a:pPr>
              <a:defRPr sz="3375" b="1">
                <a:solidFill>
                  <a:srgbClr val="17365D"/>
                </a:solidFill>
              </a:defRPr>
            </a:pPr>
            <a:r>
              <a:rPr sz="3375" b="1">
                <a:solidFill>
                  <a:srgbClr val="17365D"/>
                </a:solidFill>
              </a:rPr>
              <a:t>diverges from macro data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13CF7C-513D-4A42-8DB7-409B68D1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666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B6573"/>
                </a:solidFill>
              </a:defRPr>
            </a:pPr>
            <a:r>
              <a:rPr sz="1800" b="0">
                <a:solidFill>
                  <a:srgbClr val="5B6573"/>
                </a:solidFill>
              </a:rPr>
              <a:t>A model-risk framework for consumer-sensitive forecasting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0D40B6-C5B7-4EFE-B58A-C651A62C2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409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5A1B9F-F8B7-46E7-9DA9-A639165A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Research report and presentation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015DE8-59E5-4D71-B4F5-2C81F147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767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17365D"/>
                </a:solidFill>
              </a:defRPr>
            </a:pPr>
            <a:r>
              <a:rPr sz="1275" b="1">
                <a:solidFill>
                  <a:srgbClr val="17365D"/>
                </a:solidFill>
              </a:rPr>
              <a:t>Alan Wang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EB3451-E856-44B0-BBB6-9E4874A5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B6573"/>
                </a:solidFill>
              </a:defRPr>
            </a:pPr>
            <a:r>
              <a:rPr sz="1200" b="0">
                <a:solidFill>
                  <a:srgbClr val="5B6573"/>
                </a:solidFill>
              </a:rPr>
              <a:t>Analysis cutoff: October 14, 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78D936-EFAB-48C1-8FEC-13C99DEE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Practical question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E6F07F-93E4-458F-9F55-EF03FC43D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47875"/>
            <a:ext cx="32861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17365D"/>
                </a:solidFill>
              </a:defRPr>
            </a:pPr>
            <a:r>
              <a:rPr sz="1950" b="1">
                <a:solidFill>
                  <a:srgbClr val="17365D"/>
                </a:solidFill>
              </a:rPr>
              <a:t>Should weak consumer sentiment change a forecast, or should it first change the analyst’s uncertainty assessment?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5C1E85-E7EA-43A0-903F-F71A6BC4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43350"/>
            <a:ext cx="319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B6573"/>
                </a:solidFill>
              </a:defRPr>
            </a:pPr>
            <a:r>
              <a:rPr sz="1350" b="0">
                <a:solidFill>
                  <a:srgbClr val="5B6573"/>
                </a:solidFill>
              </a:rPr>
              <a:t>The evidence supports a governed review process before any forecast or risk action.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ADB5FD-9E30-4759-B149-5E9EAB159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4960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7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675" b="0">
                <a:solidFill>
                  <a:srgbClr val="5B6573"/>
                </a:solidFill>
              </a:defRPr>
            </a:pPr>
            <a:r>
              <a:rPr sz="675" b="0">
                <a:solidFill>
                  <a:srgbClr val="5B6573"/>
                </a:solidFill>
              </a:rPr>
              <a:t>Based on current implementation and course brief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14FE55-0D2F-468B-A4AC-5FC7C4C14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96050"/>
            <a:ext cx="2933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7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675" b="0">
                <a:solidFill>
                  <a:srgbClr val="5B6573"/>
                </a:solidFill>
              </a:defRPr>
            </a:pPr>
            <a:r>
              <a:rPr sz="675" b="0">
                <a:solidFill>
                  <a:srgbClr val="5B6573"/>
                </a:solidFill>
              </a:rPr>
              <a:t>NLP &amp; the Investment Process | October 2026</a:t>
            </a:r>
          </a:p>
        </p:txBody>
      </p:sp>
    </p:spTree>
    <p:extLst>
      <p:ext uri="{BB962C8B-B14F-4D97-AF65-F5344CB8AC3E}">
        <p14:creationId xmlns:p14="http://schemas.microsoft.com/office/powerpoint/2010/main" val="8332649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2694A3-007E-4DB6-8D2F-5852A6A02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2F75B5"/>
                </a:solidFill>
              </a:defRPr>
            </a:pPr>
            <a:r>
              <a:rPr sz="900" b="1">
                <a:solidFill>
                  <a:srgbClr val="2F75B5"/>
                </a:solidFill>
              </a:rPr>
              <a:t>THE DECISION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C91DB0-F90F-46C6-8157-B84498024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7365D"/>
                </a:solidFill>
              </a:defRPr>
            </a:pPr>
            <a:r>
              <a:rPr sz="2400" b="1">
                <a:solidFill>
                  <a:srgbClr val="17365D"/>
                </a:solidFill>
              </a:rPr>
              <a:t>A sentiment gap starts a review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67B37A-DBC0-4E7C-8E1A-348B850F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B31991-1EC7-4F5A-9116-08058BF19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3337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5B6573"/>
                </a:solidFill>
              </a:defRPr>
            </a:pPr>
            <a:r>
              <a:rPr sz="825" b="0">
                <a:solidFill>
                  <a:srgbClr val="5B6573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82CDA2-4BAF-4A63-9E6B-BF96D7429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809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Before changing a forecast, an analyst needs to consider three explanations.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9E559C-B57F-4BA1-8862-1236B70E5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048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9E2F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E25430-2CD6-42AA-87FC-EEAC191D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8127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2F75B5"/>
                </a:solidFill>
              </a:defRPr>
            </a:pPr>
            <a:r>
              <a:rPr sz="1950" b="1">
                <a:solidFill>
                  <a:srgbClr val="2F75B5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9E9E74-DBEB-4C89-9031-B18B1458A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38475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7365D"/>
                </a:solidFill>
              </a:defRPr>
            </a:pPr>
            <a:r>
              <a:rPr sz="1650" b="1">
                <a:solidFill>
                  <a:srgbClr val="17365D"/>
                </a:solidFill>
              </a:rPr>
              <a:t>Household pressures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70E9BA-2824-4E65-8775-E67818263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48075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B6573"/>
                </a:solidFill>
              </a:defRPr>
            </a:pPr>
            <a:r>
              <a:rPr sz="1125" b="0">
                <a:solidFill>
                  <a:srgbClr val="5B6573"/>
                </a:solidFill>
              </a:rPr>
              <a:t>Broader unemployment, prices, debt, income, housing costs, and uncertainty can differ from headline growth.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817AD4-638E-40EF-9D18-F5AF86587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381250"/>
            <a:ext cx="3048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9E2F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8B201C-F9E4-440D-A60A-3808E728B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58127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2F75B5"/>
                </a:solidFill>
              </a:defRPr>
            </a:pPr>
            <a:r>
              <a:rPr sz="1950" b="1">
                <a:solidFill>
                  <a:srgbClr val="2F75B5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E4FD7F-36A0-49EB-AB7F-71EBAD089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038475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7365D"/>
                </a:solidFill>
              </a:defRPr>
            </a:pPr>
            <a:r>
              <a:rPr sz="1650" b="1">
                <a:solidFill>
                  <a:srgbClr val="17365D"/>
                </a:solidFill>
              </a:rPr>
              <a:t>Narratives and framing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CB2A90-32CB-4363-B120-3E0E8CCB6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648075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B6573"/>
                </a:solidFill>
              </a:defRPr>
            </a:pPr>
            <a:r>
              <a:rPr sz="1125" b="0">
                <a:solidFill>
                  <a:srgbClr val="5B6573"/>
                </a:solidFill>
              </a:rPr>
              <a:t>We can measure tone and framing in content. Text cannot show exposure or belief.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A193A0-4E17-4902-B2A3-C5F3D108D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381250"/>
            <a:ext cx="3048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9E2F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79A91C-398E-452E-A9EC-8C316B05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58127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2F75B5"/>
                </a:solidFill>
              </a:defRPr>
            </a:pPr>
            <a:r>
              <a:rPr sz="1950" b="1">
                <a:solidFill>
                  <a:srgbClr val="2F75B5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778257-CF50-4E6B-8B6A-0C40AE63C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38475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7365D"/>
                </a:solidFill>
              </a:defRPr>
            </a:pPr>
            <a:r>
              <a:rPr sz="1650" b="1">
                <a:solidFill>
                  <a:srgbClr val="17365D"/>
                </a:solidFill>
              </a:rPr>
              <a:t>Timing and model limits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666F8F-3CEF-4FF0-A78E-3BB1BDB2D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48075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B6573"/>
                </a:solidFill>
              </a:defRPr>
            </a:pPr>
            <a:r>
              <a:rPr sz="1125" b="0">
                <a:solidFill>
                  <a:srgbClr val="5B6573"/>
                </a:solidFill>
              </a:rPr>
              <a:t>Release timing, revisions, survey changes, and a short sample can create an apparent gap.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E26268-F016-48C0-84E7-2D12CCE7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009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7365D"/>
                </a:solidFill>
              </a:defRPr>
            </a:pPr>
            <a:r>
              <a:rPr sz="1575" b="1">
                <a:solidFill>
                  <a:srgbClr val="17365D"/>
                </a:solidFill>
              </a:rPr>
              <a:t>When sentiment is below the model prediction, the gap signals uncertainty. The review may revise the forecast, widen its range, or take no action.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64FBAB-0B2F-4C8B-92F6-4B2C0116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4960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7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675" b="0">
                <a:solidFill>
                  <a:srgbClr val="5B6573"/>
                </a:solidFill>
              </a:defRPr>
            </a:pPr>
            <a:r>
              <a:rPr sz="675" b="0">
                <a:solidFill>
                  <a:srgbClr val="5B6573"/>
                </a:solidFill>
              </a:rPr>
              <a:t>Source: Final Project Applications in Finance brief; project README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E66263-0B65-4142-94C3-53A774FE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96050"/>
            <a:ext cx="2933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7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675" b="0">
                <a:solidFill>
                  <a:srgbClr val="5B6573"/>
                </a:solidFill>
              </a:defRPr>
            </a:pPr>
            <a:r>
              <a:rPr sz="675" b="0">
                <a:solidFill>
                  <a:srgbClr val="5B6573"/>
                </a:solidFill>
              </a:rPr>
              <a:t>NLP &amp; the Investment Process | October 2026</a:t>
            </a:r>
          </a:p>
        </p:txBody>
      </p:sp>
    </p:spTree>
    <p:extLst>
      <p:ext uri="{BB962C8B-B14F-4D97-AF65-F5344CB8AC3E}">
        <p14:creationId xmlns:p14="http://schemas.microsoft.com/office/powerpoint/2010/main" val="172541414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30924F-23F5-4B53-BFF7-0C277689A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2F75B5"/>
                </a:solidFill>
              </a:defRPr>
            </a:pPr>
            <a:r>
              <a:rPr sz="900" b="1">
                <a:solidFill>
                  <a:srgbClr val="2F75B5"/>
                </a:solidFill>
              </a:rPr>
              <a:t>ESTABLISH THE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517AA6-9C40-4DD8-A7E8-5755E82B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7365D"/>
                </a:solidFill>
              </a:defRPr>
            </a:pPr>
            <a:r>
              <a:rPr sz="2400" b="1">
                <a:solidFill>
                  <a:srgbClr val="17365D"/>
                </a:solidFill>
              </a:rPr>
              <a:t>The baseline uses information available on the decision 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DE026-3CAA-47EA-9CB1-119134F60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D152E7-6E14-4C7C-B55F-7417ED06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3337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5B6573"/>
                </a:solidFill>
              </a:defRPr>
            </a:pPr>
            <a:r>
              <a:rPr sz="825" b="0">
                <a:solidFill>
                  <a:srgbClr val="5B6573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AE5885-19E9-4D35-A73F-A2581ED9C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7365D"/>
                </a:solidFill>
              </a:defRPr>
            </a:pPr>
            <a:r>
              <a:rPr sz="975" b="1">
                <a:solidFill>
                  <a:srgbClr val="17365D"/>
                </a:solidFill>
              </a:rPr>
              <a:t>Interpretation: a forecast should be tested against the information available when the decision was made, not against later revisions.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1288B-446F-494D-AE46-28FBCFCC2826}"/>
              </a:ext>
            </a:extLst>
          </p:cNvPr>
          <p:cNvGraphicFramePr/>
          <p:nvPr/>
        </p:nvGraphicFramePr>
        <p:xfrm>
          <a:off xmlns:a="http://schemas.openxmlformats.org/drawingml/2006/main" x="685800" y="1638300"/>
          <a:ext xmlns:a="http://schemas.openxmlformats.org/drawingml/2006/main" cx="10820400" cy="27241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809750"/>
                <a:gridCol w="4476750"/>
                <a:gridCol w="4533900"/>
              </a:tblGrid>
              <a:tr h="544830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2F3"/>
                      </a:solidFill>
                      <a:prstDash val="solid"/>
                    </a:lnL>
                    <a:lnR w="9525">
                      <a:solidFill>
                        <a:srgbClr val="D9E2F3"/>
                      </a:solidFill>
                      <a:prstDash val="solid"/>
                    </a:lnR>
                    <a:lnT w="9525">
                      <a:solidFill>
                        <a:srgbClr val="D9E2F3"/>
                      </a:solidFill>
                      <a:prstDash val="solid"/>
                    </a:lnT>
                    <a:lnB w="9525">
                      <a:solidFill>
                        <a:srgbClr val="D9E2F3"/>
                      </a:solidFill>
                      <a:prstDash val="soli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Implementation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2F3"/>
                      </a:solidFill>
                      <a:prstDash val="solid"/>
                    </a:lnR>
                    <a:lnT w="9525">
                      <a:solidFill>
                        <a:srgbClr val="D9E2F3"/>
                      </a:solidFill>
                      <a:prstDash val="solid"/>
                    </a:lnT>
                    <a:lnB w="9525">
                      <a:solidFill>
                        <a:srgbClr val="D9E2F3"/>
                      </a:solidFill>
                      <a:prstDash val="soli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Interpretation boundary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2F3"/>
                      </a:solidFill>
                      <a:prstDash val="solid"/>
                    </a:lnR>
                    <a:lnT w="9525">
                      <a:solidFill>
                        <a:srgbClr val="D9E2F3"/>
                      </a:solidFill>
                      <a:prstDash val="solid"/>
                    </a:lnT>
                    <a:lnB w="9525">
                      <a:solidFill>
                        <a:srgbClr val="D9E2F3"/>
                      </a:solidFill>
                      <a:prstDash val="solid"/>
                    </a:lnB>
                    <a:solidFill>
                      <a:srgbClr val="17365D"/>
                    </a:solidFill>
                  </a:tcPr>
                </a:tc>
              </a:tr>
              <a:tr h="54483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033"/>
                          </a:solidFill>
                        </a:rPr>
                        <a:t>Economic baseline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2F3"/>
                      </a:solidFill>
                      <a:prstDash val="solid"/>
                    </a:lnL>
                    <a:lnR w="9525">
                      <a:solidFill>
                        <a:srgbClr val="D9E2F3"/>
                      </a:solidFill>
                      <a:prstDash val="solid"/>
                    </a:lnR>
                    <a:lnB w="9525">
                      <a:solidFill>
                        <a:srgbClr val="D9E2F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033"/>
                          </a:solidFill>
                        </a:rPr>
                        <a:t>Michigan sentiment; U-3 unemployment; Personal Consumption Expenditures (PCE) inflation; quarterly real gross domestic product (GDP) growth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2F3"/>
                      </a:solidFill>
                      <a:prstDash val="solid"/>
                    </a:lnR>
                    <a:lnB w="9525">
                      <a:solidFill>
                        <a:srgbClr val="D9E2F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033"/>
                          </a:solidFill>
                        </a:rPr>
                        <a:t>Forecasts use only data available at the decision date. GDP remains quarterly.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2F3"/>
                      </a:solidFill>
                      <a:prstDash val="solid"/>
                    </a:lnR>
                    <a:lnB w="9525">
                      <a:solidFill>
                        <a:srgbClr val="D9E2F3"/>
                      </a:solidFill>
                      <a:prstDash val="solid"/>
                    </a:lnB>
                  </a:tcPr>
                </a:tc>
              </a:tr>
              <a:tr h="54483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033"/>
                          </a:solidFill>
                        </a:rPr>
                        <a:t>Broader controls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2F3"/>
                      </a:solidFill>
                      <a:prstDash val="solid"/>
                    </a:lnL>
                    <a:lnR w="9525">
                      <a:solidFill>
                        <a:srgbClr val="D9E2F3"/>
                      </a:solidFill>
                      <a:prstDash val="solid"/>
                    </a:lnR>
                    <a:lnB w="9525">
                      <a:solidFill>
                        <a:srgbClr val="D9E2F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033"/>
                          </a:solidFill>
                        </a:rPr>
                        <a:t>U-6 underemployment, real income, price growth, debt service, housing affordability, policy uncertainty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2F3"/>
                      </a:solidFill>
                      <a:prstDash val="solid"/>
                    </a:lnR>
                    <a:lnB w="9525">
                      <a:solidFill>
                        <a:srgbClr val="D9E2F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033"/>
                          </a:solidFill>
                        </a:rPr>
                        <a:t>Tests whether headline indicators miss household pressures.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2F3"/>
                      </a:solidFill>
                      <a:prstDash val="solid"/>
                    </a:lnR>
                    <a:lnB w="9525">
                      <a:solidFill>
                        <a:srgbClr val="D9E2F3"/>
                      </a:solidFill>
                      <a:prstDash val="solid"/>
                    </a:lnB>
                  </a:tcPr>
                </a:tc>
              </a:tr>
              <a:tr h="54483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033"/>
                          </a:solidFill>
                        </a:rPr>
                        <a:t>Media corpus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2F3"/>
                      </a:solidFill>
                      <a:prstDash val="solid"/>
                    </a:lnL>
                    <a:lnR w="9525">
                      <a:solidFill>
                        <a:srgbClr val="D9E2F3"/>
                      </a:solidFill>
                      <a:prstDash val="solid"/>
                    </a:lnR>
                    <a:lnB w="9525">
                      <a:solidFill>
                        <a:srgbClr val="D9E2F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033"/>
                          </a:solidFill>
                        </a:rPr>
                        <a:t>16 national/local publishers plus public Mastodon supplement; documented queries, duplicates, and flags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2F3"/>
                      </a:solidFill>
                      <a:prstDash val="solid"/>
                    </a:lnR>
                    <a:lnB w="9525">
                      <a:solidFill>
                        <a:srgbClr val="D9E2F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033"/>
                          </a:solidFill>
                        </a:rPr>
                        <a:t>Content supply does not show engagement or respondent exposure.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2F3"/>
                      </a:solidFill>
                      <a:prstDash val="solid"/>
                    </a:lnR>
                    <a:lnB w="9525">
                      <a:solidFill>
                        <a:srgbClr val="D9E2F3"/>
                      </a:solidFill>
                      <a:prstDash val="solid"/>
                    </a:lnB>
                  </a:tcPr>
                </a:tc>
              </a:tr>
              <a:tr h="54483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033"/>
                          </a:solidFill>
                        </a:rPr>
                        <a:t>Measurement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2F3"/>
                      </a:solidFill>
                      <a:prstDash val="solid"/>
                    </a:lnL>
                    <a:lnR w="9525">
                      <a:solidFill>
                        <a:srgbClr val="D9E2F3"/>
                      </a:solidFill>
                      <a:prstDash val="solid"/>
                    </a:lnR>
                    <a:lnB w="9525">
                      <a:solidFill>
                        <a:srgbClr val="D9E2F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033"/>
                          </a:solidFill>
                        </a:rPr>
                        <a:t>Tone, prominence, framing, fact checks, political attribution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2F3"/>
                      </a:solidFill>
                      <a:prstDash val="solid"/>
                    </a:lnR>
                    <a:lnB w="9525">
                      <a:solidFill>
                        <a:srgbClr val="D9E2F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033"/>
                          </a:solidFill>
                        </a:rPr>
                        <a:t>Negative language is not automatically bias.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2F3"/>
                      </a:solidFill>
                      <a:prstDash val="solid"/>
                    </a:lnR>
                    <a:lnB w="9525">
                      <a:solidFill>
                        <a:srgbClr val="D9E2F3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FF84C7-AADD-4A63-A7BC-86F9A18C6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Narrative measures enter review only after a quality check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9B655-247D-4752-9AB6-9D711EBE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2F75B5"/>
                </a:solidFill>
              </a:defRPr>
            </a:pPr>
            <a:r>
              <a:rPr sz="1275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1C501D-188A-4222-9B39-6A020624A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24450"/>
            <a:ext cx="935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172033"/>
                </a:solidFill>
              </a:defRPr>
            </a:pPr>
            <a:r>
              <a:rPr sz="1275" b="0">
                <a:solidFill>
                  <a:srgbClr val="172033"/>
                </a:solidFill>
              </a:rPr>
              <a:t>Two independent, source-blinded reviewers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C7287C-5118-47EC-8D2C-1AD29D65F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2F75B5"/>
                </a:solidFill>
              </a:defRPr>
            </a:pPr>
            <a:r>
              <a:rPr sz="1275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D9551B-66CA-47FD-B537-F9877F595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24500"/>
            <a:ext cx="935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172033"/>
                </a:solidFill>
              </a:defRPr>
            </a:pPr>
            <a:r>
              <a:rPr sz="1275" b="0">
                <a:solidFill>
                  <a:srgbClr val="172033"/>
                </a:solidFill>
              </a:rPr>
              <a:t>312 paired human tone labels, then a final 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FFA76B-7AC5-4616-9E8E-B070ABC88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455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2F75B5"/>
                </a:solidFill>
              </a:defRPr>
            </a:pPr>
            <a:r>
              <a:rPr sz="1275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22EF8F-6BA1-4114-B1DB-E99F52E03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924550"/>
            <a:ext cx="935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172033"/>
                </a:solidFill>
              </a:defRPr>
            </a:pPr>
            <a:r>
              <a:rPr sz="1275" b="0">
                <a:solidFill>
                  <a:srgbClr val="172033"/>
                </a:solidFill>
              </a:rPr>
              <a:t>Dictionary and classifier checks kept for audit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BB8B53-497A-4E35-85AF-460A179D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4960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7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675" b="0">
                <a:solidFill>
                  <a:srgbClr val="5B6573"/>
                </a:solidFill>
              </a:defRPr>
            </a:pPr>
            <a:r>
              <a:rPr sz="675" b="0">
                <a:solidFill>
                  <a:srgbClr val="5B6573"/>
                </a:solidFill>
              </a:rPr>
              <a:t>Source files: data README; corpus README; AI measurement validation protocol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DE35FC-AD74-4789-B059-54FBC83D5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96050"/>
            <a:ext cx="2933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7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675" b="0">
                <a:solidFill>
                  <a:srgbClr val="5B6573"/>
                </a:solidFill>
              </a:defRPr>
            </a:pPr>
            <a:r>
              <a:rPr sz="675" b="0">
                <a:solidFill>
                  <a:srgbClr val="5B6573"/>
                </a:solidFill>
              </a:rPr>
              <a:t>NLP &amp; the Investment Process | October 2026</a:t>
            </a:r>
          </a:p>
        </p:txBody>
      </p:sp>
    </p:spTree>
    <p:extLst>
      <p:ext uri="{BB962C8B-B14F-4D97-AF65-F5344CB8AC3E}">
        <p14:creationId xmlns:p14="http://schemas.microsoft.com/office/powerpoint/2010/main" val="10657614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064829C-17BF-412B-B8E6-23B10FB8A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2F75B5"/>
                </a:solidFill>
              </a:defRPr>
            </a:pPr>
            <a:r>
              <a:rPr sz="900" b="1">
                <a:solidFill>
                  <a:srgbClr val="2F75B5"/>
                </a:solidFill>
              </a:rPr>
              <a:t>ASSESS MEASUREMENT QUALITY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801AB0-444C-4395-9422-B631618B6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7365D"/>
                </a:solidFill>
              </a:defRPr>
            </a:pPr>
            <a:r>
              <a:rPr sz="2400" b="1">
                <a:solidFill>
                  <a:srgbClr val="17365D"/>
                </a:solidFill>
              </a:rPr>
              <a:t>Validated narrative measures can support review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C42EB5-0631-4B69-AA73-8F7A4CEDD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2195AC-E3AE-4AD7-ABB8-4C6414664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3337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5B6573"/>
                </a:solidFill>
              </a:defRPr>
            </a:pPr>
            <a:r>
              <a:rPr sz="825" b="0">
                <a:solidFill>
                  <a:srgbClr val="5B6573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888CBF-CF4C-4DDB-88AF-5CAECDD25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17365D"/>
                </a:solidFill>
              </a:defRPr>
            </a:pPr>
            <a:r>
              <a:rPr sz="1050" b="1">
                <a:solidFill>
                  <a:srgbClr val="17365D"/>
                </a:solidFill>
              </a:rPr>
              <a:t>Interpretation: agreement is moderate. Use these labels as checked evidence for review, not as automatic decision signals.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17917F-0560-49CE-84E9-B9126359F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F75B5"/>
                </a:solidFill>
              </a:defRPr>
            </a:pPr>
            <a:r>
              <a:rPr sz="1200" b="1">
                <a:solidFill>
                  <a:srgbClr val="2F75B5"/>
                </a:solidFill>
              </a:rPr>
              <a:t>Tone validation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0F628F-83F7-4274-BB4F-A6E237F3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3050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9E2F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5A37BF-FE58-45B3-BD25-A580E1468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7365D"/>
                </a:solidFill>
              </a:defRPr>
            </a:pPr>
            <a:r>
              <a:rPr sz="2100" b="1">
                <a:solidFill>
                  <a:srgbClr val="17365D"/>
                </a:solidFill>
              </a:rPr>
              <a:t>312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2E772A-0342-46C7-9A5B-55F4E281F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71775"/>
            <a:ext cx="1952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B6573"/>
                </a:solidFill>
              </a:defRPr>
            </a:pPr>
            <a:r>
              <a:rPr sz="1050" b="0">
                <a:solidFill>
                  <a:srgbClr val="5B6573"/>
                </a:solidFill>
              </a:rPr>
              <a:t>paired independent labels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BCBE39-44D1-4DC0-B92C-25D3B3E87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076450"/>
            <a:ext cx="23050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9E2F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A7F99C-4A0B-411A-878C-F71407B29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28600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7365D"/>
                </a:solidFill>
              </a:defRPr>
            </a:pPr>
            <a:r>
              <a:rPr sz="2100" b="1">
                <a:solidFill>
                  <a:srgbClr val="17365D"/>
                </a:solidFill>
              </a:rPr>
              <a:t>59.3%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632A39-685D-4A8D-A85E-7C377D0A4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771775"/>
            <a:ext cx="1952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B6573"/>
                </a:solidFill>
              </a:defRPr>
            </a:pPr>
            <a:r>
              <a:rPr sz="1050" b="0">
                <a:solidFill>
                  <a:srgbClr val="5B6573"/>
                </a:solidFill>
              </a:rPr>
              <a:t>raw tone agreement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7B9FD1-37C3-4769-ADEE-9B9D4209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76450"/>
            <a:ext cx="23050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9E2F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8D3256-3755-4305-8814-2ED1F7568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28600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7365D"/>
                </a:solidFill>
              </a:defRPr>
            </a:pPr>
            <a:r>
              <a:rPr sz="2100" b="1">
                <a:solidFill>
                  <a:srgbClr val="17365D"/>
                </a:solidFill>
              </a:rPr>
              <a:t>0.437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05F049-1677-4A1A-84BF-4E9A7EEF2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71775"/>
            <a:ext cx="1952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B6573"/>
                </a:solidFill>
              </a:defRPr>
            </a:pPr>
            <a:r>
              <a:rPr sz="1050" b="0">
                <a:solidFill>
                  <a:srgbClr val="5B6573"/>
                </a:solidFill>
              </a:rPr>
              <a:t>Cohen kappa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DDA71E-D0A7-4FC6-93A2-45E84E8F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076450"/>
            <a:ext cx="23050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9E2F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5B1232-41F1-4421-AAD7-416453B59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28600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7365D"/>
                </a:solidFill>
              </a:defRPr>
            </a:pPr>
            <a:r>
              <a:rPr sz="2100" b="1">
                <a:solidFill>
                  <a:srgbClr val="17365D"/>
                </a:solidFill>
              </a:rPr>
              <a:t>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8C951B-440C-43B7-B91C-A068F9EDF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771775"/>
            <a:ext cx="1952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B6573"/>
                </a:solidFill>
              </a:defRPr>
            </a:pPr>
            <a:r>
              <a:rPr sz="1050" b="0">
                <a:solidFill>
                  <a:srgbClr val="5B6573"/>
                </a:solidFill>
              </a:rPr>
              <a:t>machine labels in agreement stats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5A199C-A0A5-4AB2-848A-BD3078931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400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F75B5"/>
                </a:solidFill>
              </a:defRPr>
            </a:pPr>
            <a:r>
              <a:rPr sz="1200" b="1">
                <a:solidFill>
                  <a:srgbClr val="2F75B5"/>
                </a:solidFill>
              </a:rPr>
              <a:t>Audit record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CF3FFA-AE42-47CA-9517-3429E2A70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2F75B5"/>
                </a:solidFill>
              </a:defRPr>
            </a:pPr>
            <a:r>
              <a:rPr sz="1350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405324-9BBA-4752-B953-86F17D319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71950"/>
            <a:ext cx="449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Item IDs, saved text, source details, and timing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BD6BE4-FAAF-43D9-B74E-9EB60590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2F75B5"/>
                </a:solidFill>
              </a:defRPr>
            </a:pPr>
            <a:r>
              <a:rPr sz="1350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E45276-0CF8-45F1-980A-7BC2BA535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29150"/>
            <a:ext cx="449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Independent votes, final decisions, and evidence excerpts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0C7823-3E58-4CEF-AF5B-9B11EDD5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2F75B5"/>
                </a:solidFill>
              </a:defRPr>
            </a:pPr>
            <a:r>
              <a:rPr sz="1350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6AD7B6-2272-4741-ADCB-E956ADA96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86350"/>
            <a:ext cx="449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Model and prompt records, plus source and actor masking checks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30D8C7-C5B0-4C85-942A-8D8D6AEF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790950"/>
            <a:ext cx="400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C0504D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C0504D"/>
                </a:solidFill>
              </a:defRPr>
            </a:pPr>
            <a:r>
              <a:rPr sz="1200" b="1">
                <a:solidFill>
                  <a:srgbClr val="C0504D"/>
                </a:solidFill>
              </a:rPr>
              <a:t>What the measures cannot show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126AAA-8ADE-4800-816C-F4D5F94C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17195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2F75B5"/>
                </a:solidFill>
              </a:defRPr>
            </a:pPr>
            <a:r>
              <a:rPr sz="1350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A15770-7E36-44A3-A818-A382EFBDC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171950"/>
            <a:ext cx="421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A dictionary does not validate a large language model (LLM)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5EE415-1EE9-4F8E-A05A-319637509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62915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2F75B5"/>
                </a:solidFill>
              </a:defRPr>
            </a:pPr>
            <a:r>
              <a:rPr sz="1350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07A6B4-891C-4F18-9C26-CB4F7F78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629150"/>
            <a:ext cx="421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A text label does not show who saw the content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7DFFC8-E8B5-4F94-A683-88E9C0F7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508635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2F75B5"/>
                </a:solidFill>
              </a:defRPr>
            </a:pPr>
            <a:r>
              <a:rPr sz="1350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6CF038-55EF-43D6-A8C5-3840AC0A3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5086350"/>
            <a:ext cx="421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A measured frame does not show an individual belief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ED6FEB9-6673-4EA7-80DE-AB4AE7099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4960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7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675" b="0">
                <a:solidFill>
                  <a:srgbClr val="5B6573"/>
                </a:solidFill>
              </a:defRPr>
            </a:pPr>
            <a:r>
              <a:rPr sz="675" b="0">
                <a:solidFill>
                  <a:srgbClr val="5B6573"/>
                </a:solidFill>
              </a:rPr>
              <a:t>Sources: data/processed/run_summary.json; docs/human_labeling_guide.md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A2749EF-3B5D-48BD-9C5E-EAA6F492A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96050"/>
            <a:ext cx="2933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7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675" b="0">
                <a:solidFill>
                  <a:srgbClr val="5B6573"/>
                </a:solidFill>
              </a:defRPr>
            </a:pPr>
            <a:r>
              <a:rPr sz="675" b="0">
                <a:solidFill>
                  <a:srgbClr val="5B6573"/>
                </a:solidFill>
              </a:rPr>
              <a:t>NLP &amp; the Investment Process | October 2026</a:t>
            </a:r>
          </a:p>
        </p:txBody>
      </p:sp>
    </p:spTree>
    <p:extLst>
      <p:ext uri="{BB962C8B-B14F-4D97-AF65-F5344CB8AC3E}">
        <p14:creationId xmlns:p14="http://schemas.microsoft.com/office/powerpoint/2010/main" val="4669751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50328E-6211-462F-8079-39E7B3DF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2F75B5"/>
                </a:solidFill>
              </a:defRPr>
            </a:pPr>
            <a:r>
              <a:rPr sz="900" b="1">
                <a:solidFill>
                  <a:srgbClr val="2F75B5"/>
                </a:solidFill>
              </a:rPr>
              <a:t>TEST COMPETING EXPLANATIONS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B1421F-5E27-4F1E-A42A-A7C1719A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7365D"/>
                </a:solidFill>
              </a:defRPr>
            </a:pPr>
            <a:r>
              <a:rPr sz="2400" b="1">
                <a:solidFill>
                  <a:srgbClr val="17365D"/>
                </a:solidFill>
              </a:rPr>
              <a:t>Broader household measures improve the forecast; media does not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FC3731-B532-49B1-B48D-1C3BD8A6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49CC4B-4D2E-4A5A-AFCC-FFEA41201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3337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5B6573"/>
                </a:solidFill>
              </a:defRPr>
            </a:pPr>
            <a:r>
              <a:rPr sz="825" b="0">
                <a:solidFill>
                  <a:srgbClr val="5B6573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5FE9B6-2C5B-4A65-A3F2-DFFD9E51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F75B5"/>
                </a:solidFill>
              </a:defRPr>
            </a:pPr>
            <a:r>
              <a:rPr sz="1200" b="1">
                <a:solidFill>
                  <a:srgbClr val="2F75B5"/>
                </a:solidFill>
              </a:rPr>
              <a:t>Out-of-sample mean absolute error (MAE): lower is better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6BAEA0-22C3-4308-BC68-F81BE2E18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B6573"/>
                </a:solidFill>
              </a:defRPr>
            </a:pPr>
            <a:r>
              <a:rPr sz="1050" b="0">
                <a:solidFill>
                  <a:srgbClr val="5B6573"/>
                </a:solidFill>
              </a:rPr>
              <a:t>Supplementary extension: 12-month U-3 change plus a recession signal when GDP is negative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87C2D245-5DD2-40B3-B308-A4FC66F682D8}"/>
              </a:ext>
            </a:extLst>
          </p:cNvPr>
          <p:cNvGraphicFramePr/>
          <p:nvPr/>
        </p:nvGraphicFramePr>
        <p:xfrm>
          <a:off xmlns:a="http://schemas.openxmlformats.org/drawingml/2006/main" x="685800" y="2143125"/>
          <a:ext xmlns:a="http://schemas.openxmlformats.org/drawingml/2006/main" cx="58102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dea8a310b624e1f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5EE6BA-961B-4FA1-8A97-290B563A4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71625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2F75B5"/>
                </a:solidFill>
              </a:defRPr>
            </a:pPr>
            <a:r>
              <a:rPr sz="900" b="1">
                <a:solidFill>
                  <a:srgbClr val="2F75B5"/>
                </a:solidFill>
              </a:rPr>
              <a:t>Historical media test</a:t>
            </a:r>
          </a:p>
          <a:p xmlns:a="http://schemas.openxmlformats.org/drawingml/2006/main">
            <a:pPr>
              <a:defRPr sz="900" b="1">
                <a:solidFill>
                  <a:srgbClr val="2F75B5"/>
                </a:solidFill>
              </a:defRPr>
            </a:pPr>
            <a:r>
              <a:rPr sz="900" b="1">
                <a:solidFill>
                  <a:srgbClr val="2F75B5"/>
                </a:solidFill>
              </a:rPr>
              <a:t>Mean absolute error (MAE), root mean squared error (RMSE)</a:t>
            </a:r>
          </a:p>
        </p:txBody>
      </p:sp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28F3FE-88F6-4924-8C15-148AF2FCDB8C}"/>
              </a:ext>
            </a:extLst>
          </p:cNvPr>
          <p:cNvGraphicFramePr/>
          <p:nvPr/>
        </p:nvGraphicFramePr>
        <p:xfrm>
          <a:off xmlns:a="http://schemas.openxmlformats.org/drawingml/2006/main" x="7239000" y="2000250"/>
          <a:ext xmlns:a="http://schemas.openxmlformats.org/drawingml/2006/main" cx="4000500" cy="2000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333625"/>
                <a:gridCol w="762000"/>
                <a:gridCol w="904875"/>
              </a:tblGrid>
              <a:tr h="500063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Specification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2F3"/>
                      </a:solidFill>
                      <a:prstDash val="solid"/>
                    </a:lnL>
                    <a:lnR w="9525">
                      <a:solidFill>
                        <a:srgbClr val="D9E2F3"/>
                      </a:solidFill>
                      <a:prstDash val="solid"/>
                    </a:lnR>
                    <a:lnT w="9525">
                      <a:solidFill>
                        <a:srgbClr val="D9E2F3"/>
                      </a:solidFill>
                      <a:prstDash val="solid"/>
                    </a:lnT>
                    <a:lnB w="9525">
                      <a:solidFill>
                        <a:srgbClr val="D9E2F3"/>
                      </a:solidFill>
                      <a:prstDash val="soli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2F3"/>
                      </a:solidFill>
                      <a:prstDash val="solid"/>
                    </a:lnR>
                    <a:lnT w="9525">
                      <a:solidFill>
                        <a:srgbClr val="D9E2F3"/>
                      </a:solidFill>
                      <a:prstDash val="solid"/>
                    </a:lnT>
                    <a:lnB w="9525">
                      <a:solidFill>
                        <a:srgbClr val="D9E2F3"/>
                      </a:solidFill>
                      <a:prstDash val="soli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2F3"/>
                      </a:solidFill>
                      <a:prstDash val="solid"/>
                    </a:lnR>
                    <a:lnT w="9525">
                      <a:solidFill>
                        <a:srgbClr val="D9E2F3"/>
                      </a:solidFill>
                      <a:prstDash val="solid"/>
                    </a:lnT>
                    <a:lnB w="9525">
                      <a:solidFill>
                        <a:srgbClr val="D9E2F3"/>
                      </a:solidFill>
                      <a:prstDash val="solid"/>
                    </a:lnB>
                    <a:solidFill>
                      <a:srgbClr val="17365D"/>
                    </a:solidFill>
                  </a:tcPr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033"/>
                          </a:solidFill>
                        </a:rPr>
                        <a:t>Economic only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2F3"/>
                      </a:solidFill>
                      <a:prstDash val="solid"/>
                    </a:lnL>
                    <a:lnR w="9525">
                      <a:solidFill>
                        <a:srgbClr val="D9E2F3"/>
                      </a:solidFill>
                      <a:prstDash val="solid"/>
                    </a:lnR>
                    <a:lnB w="9525">
                      <a:solidFill>
                        <a:srgbClr val="D9E2F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033"/>
                          </a:solidFill>
                        </a:rPr>
                        <a:t>5.93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2F3"/>
                      </a:solidFill>
                      <a:prstDash val="solid"/>
                    </a:lnR>
                    <a:lnB w="9525">
                      <a:solidFill>
                        <a:srgbClr val="D9E2F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033"/>
                          </a:solidFill>
                        </a:rPr>
                        <a:t>10.63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2F3"/>
                      </a:solidFill>
                      <a:prstDash val="solid"/>
                    </a:lnR>
                    <a:lnB w="9525">
                      <a:solidFill>
                        <a:srgbClr val="D9E2F3"/>
                      </a:solidFill>
                      <a:prstDash val="solid"/>
                    </a:lnB>
                  </a:tcPr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033"/>
                          </a:solidFill>
                        </a:rPr>
                        <a:t>+ one-month media tone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2F3"/>
                      </a:solidFill>
                      <a:prstDash val="solid"/>
                    </a:lnL>
                    <a:lnR w="9525">
                      <a:solidFill>
                        <a:srgbClr val="D9E2F3"/>
                      </a:solidFill>
                      <a:prstDash val="solid"/>
                    </a:lnR>
                    <a:lnB w="9525">
                      <a:solidFill>
                        <a:srgbClr val="D9E2F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033"/>
                          </a:solidFill>
                        </a:rPr>
                        <a:t>6.04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2F3"/>
                      </a:solidFill>
                      <a:prstDash val="solid"/>
                    </a:lnR>
                    <a:lnB w="9525">
                      <a:solidFill>
                        <a:srgbClr val="D9E2F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033"/>
                          </a:solidFill>
                        </a:rPr>
                        <a:t>9.84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2F3"/>
                      </a:solidFill>
                      <a:prstDash val="solid"/>
                    </a:lnR>
                    <a:lnB w="9525">
                      <a:solidFill>
                        <a:srgbClr val="D9E2F3"/>
                      </a:solidFill>
                      <a:prstDash val="solid"/>
                    </a:lnB>
                  </a:tcPr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033"/>
                          </a:solidFill>
                        </a:rPr>
                        <a:t>+ media + archived controls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2F3"/>
                      </a:solidFill>
                      <a:prstDash val="solid"/>
                    </a:lnL>
                    <a:lnR w="9525">
                      <a:solidFill>
                        <a:srgbClr val="D9E2F3"/>
                      </a:solidFill>
                      <a:prstDash val="solid"/>
                    </a:lnR>
                    <a:lnB w="9525">
                      <a:solidFill>
                        <a:srgbClr val="D9E2F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033"/>
                          </a:solidFill>
                        </a:rPr>
                        <a:t>7.92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2F3"/>
                      </a:solidFill>
                      <a:prstDash val="solid"/>
                    </a:lnR>
                    <a:lnB w="9525">
                      <a:solidFill>
                        <a:srgbClr val="D9E2F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033"/>
                          </a:solidFill>
                        </a:rPr>
                        <a:t>18.61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2F3"/>
                      </a:solidFill>
                      <a:prstDash val="solid"/>
                    </a:lnR>
                    <a:lnB w="9525">
                      <a:solidFill>
                        <a:srgbClr val="D9E2F3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5CB958-621D-4AD7-8FA2-E07DD27FA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38625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F75B5"/>
                </a:solidFill>
              </a:defRPr>
            </a:pPr>
            <a:r>
              <a:rPr sz="1200" b="1">
                <a:solidFill>
                  <a:srgbClr val="2F75B5"/>
                </a:solidFill>
              </a:rPr>
              <a:t>Additional notebook checks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550A2D-6349-408A-87CC-C5C688E66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5910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72033"/>
                </a:solidFill>
              </a:defRPr>
            </a:pPr>
            <a:r>
              <a:rPr sz="1050" b="0">
                <a:solidFill>
                  <a:srgbClr val="172033"/>
                </a:solidFill>
              </a:rPr>
              <a:t>Month-end data: MAE 12.58, RMSE 16.46. Same result as the baseline.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53D64F-06FC-4BE7-80A3-5D4E1AB77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9110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72033"/>
                </a:solidFill>
              </a:defRPr>
            </a:pPr>
            <a:r>
              <a:rPr sz="1050" b="0">
                <a:solidFill>
                  <a:srgbClr val="172033"/>
                </a:solidFill>
              </a:rPr>
              <a:t>Lagged sentiment: MAE 3.45, RMSE 4.59. This checks persistence only.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DF69D3-86AC-4841-8022-A38047F2F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505450"/>
            <a:ext cx="390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17365D"/>
                </a:solidFill>
              </a:defRPr>
            </a:pPr>
            <a:r>
              <a:rPr sz="1050" b="1">
                <a:solidFill>
                  <a:srgbClr val="17365D"/>
                </a:solidFill>
              </a:rPr>
              <a:t>Mean absolute error falls 35% with the household proxy and 64% with expanded controls. This points to missing household information, not a proven cause.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F5F444-AF71-4DF6-98BA-F2F12AC49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4960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7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675" b="0">
                <a:solidFill>
                  <a:srgbClr val="5B6573"/>
                </a:solidFill>
              </a:defRPr>
            </a:pPr>
            <a:r>
              <a:rPr sz="675" b="0">
                <a:solidFill>
                  <a:srgbClr val="5B6573"/>
                </a:solidFill>
              </a:rPr>
              <a:t>Source files: run summary; month-end vintage forecasts; media-model 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8D8A50-FCD0-42B1-8E02-8DC0BACF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96050"/>
            <a:ext cx="2933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7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675" b="0">
                <a:solidFill>
                  <a:srgbClr val="5B6573"/>
                </a:solidFill>
              </a:defRPr>
            </a:pPr>
            <a:r>
              <a:rPr sz="675" b="0">
                <a:solidFill>
                  <a:srgbClr val="5B6573"/>
                </a:solidFill>
              </a:rPr>
              <a:t>NLP &amp; the Investment Process | October 2026</a:t>
            </a:r>
          </a:p>
        </p:txBody>
      </p:sp>
    </p:spTree>
    <p:extLst>
      <p:ext uri="{BB962C8B-B14F-4D97-AF65-F5344CB8AC3E}">
        <p14:creationId xmlns:p14="http://schemas.microsoft.com/office/powerpoint/2010/main" val="8443994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1BFFFB-AB66-40DF-B83C-1CB4E3AC4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2F75B5"/>
                </a:solidFill>
              </a:defRPr>
            </a:pPr>
            <a:r>
              <a:rPr sz="900" b="1">
                <a:solidFill>
                  <a:srgbClr val="2F75B5"/>
                </a:solidFill>
              </a:rPr>
              <a:t>SET THE CAUSAL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6A5237-4CB0-45F3-8231-4832ADA1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7365D"/>
                </a:solidFill>
              </a:defRPr>
            </a:pPr>
            <a:r>
              <a:rPr sz="2400" b="1">
                <a:solidFill>
                  <a:srgbClr val="17365D"/>
                </a:solidFill>
              </a:rPr>
              <a:t>Media helps prioritize research, not change a forecast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FA8C44-D053-4C20-B0FE-D076134DC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AC2AC3-9EB3-42AD-81DF-9ECA4BBE8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3337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5B6573"/>
                </a:solidFill>
              </a:defRPr>
            </a:pPr>
            <a:r>
              <a:rPr sz="825" b="0">
                <a:solidFill>
                  <a:srgbClr val="5B6573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A570F7-D15D-4FFB-BB84-4C34D461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F75B5"/>
                </a:solidFill>
              </a:defRPr>
            </a:pPr>
            <a:r>
              <a:rPr sz="1200" b="1">
                <a:solidFill>
                  <a:srgbClr val="2F75B5"/>
                </a:solidFill>
              </a:rPr>
              <a:t>Estimated change after a 10-point rise in prior-month negative tone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A26E4B9C-76FF-4B09-80A9-433848B4369D}"/>
              </a:ext>
            </a:extLst>
          </p:cNvPr>
          <p:cNvGraphicFramePr/>
          <p:nvPr/>
        </p:nvGraphicFramePr>
        <p:xfrm>
          <a:off xmlns:a="http://schemas.openxmlformats.org/drawingml/2006/main" x="685800" y="2000250"/>
          <a:ext xmlns:a="http://schemas.openxmlformats.org/drawingml/2006/main" cx="60007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46580ad27a74e64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1F13B5-B446-41EB-B35F-D55C0FC50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66875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F75B5"/>
                </a:solidFill>
              </a:defRPr>
            </a:pPr>
            <a:r>
              <a:rPr sz="1200" b="1">
                <a:solidFill>
                  <a:srgbClr val="2F75B5"/>
                </a:solidFill>
              </a:rPr>
              <a:t>Why this is not a causal result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CEDFDF-3EC8-4888-9492-78503F88C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4787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F75B5"/>
                </a:solidFill>
              </a:defRPr>
            </a:pPr>
            <a:r>
              <a:rPr sz="1200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5A7EED-CD70-4171-9E43-7545622A1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47875"/>
            <a:ext cx="3638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2014-2021 archive with 89 matched months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1123BA-068A-4299-8EF9-7D18E3E2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1460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F75B5"/>
                </a:solidFill>
              </a:defRPr>
            </a:pPr>
            <a:r>
              <a:rPr sz="1200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A79684-362B-45DC-8048-4F607C47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514600"/>
            <a:ext cx="3638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Controls: prior sentiment, U-3, PCE, GDP, and seasonality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937FB3-14A7-4D21-B527-F66A19E79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81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F75B5"/>
                </a:solidFill>
              </a:defRPr>
            </a:pPr>
            <a:r>
              <a:rPr sz="1200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039EE1-AF49-4BDE-B20A-72C949BE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981325"/>
            <a:ext cx="3638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Newey-West standard errors with six lags (HAC(6)); future-media placebo p-values: 0.543, 0.995, 0.529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C9FAD6-2D80-40AA-A82F-442C0AB0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4805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F75B5"/>
                </a:solidFill>
              </a:defRPr>
            </a:pPr>
            <a:r>
              <a:rPr sz="1200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BBF96D-5115-4F22-B216-329D67CC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448050"/>
            <a:ext cx="3638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No data on exposure and no outside treatment variation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F0612B-F766-4F5B-895A-1BD7CE17E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38625"/>
            <a:ext cx="3762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17365D"/>
                </a:solidFill>
              </a:defRPr>
            </a:pPr>
            <a:r>
              <a:rPr sz="1275" b="1">
                <a:solidFill>
                  <a:srgbClr val="17365D"/>
                </a:solidFill>
              </a:rPr>
              <a:t>Similar results across all three measures suggest broad co-movement. Without exposure data, the pattern cannot identify media as the cause.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51A614-18FB-4F1F-B321-B0135BB8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4960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7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675" b="0">
                <a:solidFill>
                  <a:srgbClr val="5B6573"/>
                </a:solidFill>
              </a:defRPr>
            </a:pPr>
            <a:r>
              <a:rPr sz="675" b="0">
                <a:solidFill>
                  <a:srgbClr val="5B6573"/>
                </a:solidFill>
              </a:rPr>
              <a:t>Source: data/processed/causal_association_results.csv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FC7423-01AE-4B20-9C57-EE50E35B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96050"/>
            <a:ext cx="2933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7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675" b="0">
                <a:solidFill>
                  <a:srgbClr val="5B6573"/>
                </a:solidFill>
              </a:defRPr>
            </a:pPr>
            <a:r>
              <a:rPr sz="675" b="0">
                <a:solidFill>
                  <a:srgbClr val="5B6573"/>
                </a:solidFill>
              </a:rPr>
              <a:t>NLP &amp; the Investment Process | October 2026</a:t>
            </a:r>
          </a:p>
        </p:txBody>
      </p:sp>
    </p:spTree>
    <p:extLst>
      <p:ext uri="{BB962C8B-B14F-4D97-AF65-F5344CB8AC3E}">
        <p14:creationId xmlns:p14="http://schemas.microsoft.com/office/powerpoint/2010/main" val="143287960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34EA35-ACD3-4764-8F48-4046FC25C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2F75B5"/>
                </a:solidFill>
              </a:defRPr>
            </a:pPr>
            <a:r>
              <a:rPr sz="900" b="1">
                <a:solidFill>
                  <a:srgbClr val="2F75B5"/>
                </a:solidFill>
              </a:rPr>
              <a:t>TRANSLATE EVIDENCE INTO ACTION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416A4D-FAB9-405E-B5F6-7A2F4C2B7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7365D"/>
                </a:solidFill>
              </a:defRPr>
            </a:pPr>
            <a:r>
              <a:rPr sz="2400" b="1">
                <a:solidFill>
                  <a:srgbClr val="17365D"/>
                </a:solidFill>
              </a:rPr>
              <a:t>A governed narrative-risk forecast overlay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C31C6E-1AFD-433F-AB4D-13738607F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2B9058-E05A-4277-9953-1529DDD54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3337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5B6573"/>
                </a:solidFill>
              </a:defRPr>
            </a:pPr>
            <a:r>
              <a:rPr sz="825" b="0">
                <a:solidFill>
                  <a:srgbClr val="5B6573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03EF22-153F-42D6-AB62-3123CDF1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457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2F75B5"/>
                </a:solidFill>
              </a:defRPr>
            </a:pPr>
            <a:r>
              <a:rPr sz="1275" b="1">
                <a:solidFill>
                  <a:srgbClr val="2F75B5"/>
                </a:solidFill>
              </a:rPr>
              <a:t>Evidence that can inform analyst review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951B16-1B4A-49E2-89A7-88E6F1868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2F75B5"/>
                </a:solidFill>
              </a:defRPr>
            </a:pPr>
            <a:r>
              <a:rPr sz="1350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60B7FB-708A-4C74-9E76-2B51F10E3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4495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Economic baseline that respects data timing and tracks the sentiment gap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486E84-4802-470F-A50B-0A8492C22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2F75B5"/>
                </a:solidFill>
              </a:defRPr>
            </a:pPr>
            <a:r>
              <a:rPr sz="1350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4F203D-F2B5-4FD3-B161-DD7F49877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90800"/>
            <a:ext cx="4495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Audited media workflow with reported missing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03FD34-FD10-4A51-B561-9D20EE14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2F75B5"/>
                </a:solidFill>
              </a:defRPr>
            </a:pPr>
            <a:r>
              <a:rPr sz="1350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050942-204D-4632-A60D-B5319EADF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86100"/>
            <a:ext cx="4495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Source-content comparisons and historical associations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C97FA4-009D-4F4B-ADA9-25DA61570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2F75B5"/>
                </a:solidFill>
              </a:defRPr>
            </a:pPr>
            <a:r>
              <a:rPr sz="1350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2ED4A4-D382-4A8E-8333-8D568C773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81400"/>
            <a:ext cx="4495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A planned experiment for stronger future evidence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E987E4-8567-43B2-BF2D-5DC94B05F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66875"/>
            <a:ext cx="457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C0504D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C0504D"/>
                </a:solidFill>
              </a:defRPr>
            </a:pPr>
            <a:r>
              <a:rPr sz="1275" b="1">
                <a:solidFill>
                  <a:srgbClr val="C0504D"/>
                </a:solidFill>
              </a:rPr>
              <a:t>Claims the evidence does not support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FD0584-B471-464C-B807-EC89D7D7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2F75B5"/>
                </a:solidFill>
              </a:defRPr>
            </a:pPr>
            <a:r>
              <a:rPr sz="1350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A471C5-586D-42CD-A534-C9558D4F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095500"/>
            <a:ext cx="4495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Negative coverage is biased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41780F-01DD-4C84-9C64-FE5B6566F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9080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2F75B5"/>
                </a:solidFill>
              </a:defRPr>
            </a:pPr>
            <a:r>
              <a:rPr sz="1350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760575-EECD-4D90-BD7C-BB5347D4B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590800"/>
            <a:ext cx="4495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Respondents saw, remembered, or believed the sampled content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A438CC-9A94-4B11-A8FA-7C78CE49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8610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2F75B5"/>
                </a:solidFill>
              </a:defRPr>
            </a:pPr>
            <a:r>
              <a:rPr sz="1350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E5ED0A-BD02-4521-96E3-10A7A275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086100"/>
            <a:ext cx="4495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Media tone caused national Michigan sentiment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46A55D-2264-46E5-9811-A721FE4F5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8140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2F75B5"/>
                </a:solidFill>
              </a:defRPr>
            </a:pPr>
            <a:r>
              <a:rPr sz="1350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9F021C-7A5F-48DC-BCE9-340D83A47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81400"/>
            <a:ext cx="4495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Campaign timing caused a change in sentiment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3FE927-6806-46E5-A745-72D82B8E7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08204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D9E2F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EDAC2B-041E-419F-AB4C-FD46C2B46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768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7365D"/>
                </a:solidFill>
              </a:defRPr>
            </a:pPr>
            <a:r>
              <a:rPr sz="1575" b="1">
                <a:solidFill>
                  <a:srgbClr val="17365D"/>
                </a:solidFill>
              </a:rPr>
              <a:t>Decision rule: start a review, keep uncertainty visible, and seek more evidence. Change a forecast because of media only with exposure evidence or a credible study design.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2FE0CE-C9CD-42CA-83BB-9637D237C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4960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7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675" b="0">
                <a:solidFill>
                  <a:srgbClr val="5B6573"/>
                </a:solidFill>
              </a:defRPr>
            </a:pPr>
            <a:r>
              <a:rPr sz="675" b="0">
                <a:solidFill>
                  <a:srgbClr val="5B6573"/>
                </a:solidFill>
              </a:rPr>
              <a:t>Source files: course brief; causal-design protocol; project README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C1ADDB-BB48-4BBE-B947-D8C9A36B8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96050"/>
            <a:ext cx="2933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7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675" b="0">
                <a:solidFill>
                  <a:srgbClr val="5B6573"/>
                </a:solidFill>
              </a:defRPr>
            </a:pPr>
            <a:r>
              <a:rPr sz="675" b="0">
                <a:solidFill>
                  <a:srgbClr val="5B6573"/>
                </a:solidFill>
              </a:rPr>
              <a:t>NLP &amp; the Investment Process | October 2026</a:t>
            </a:r>
          </a:p>
        </p:txBody>
      </p:sp>
    </p:spTree>
    <p:extLst>
      <p:ext uri="{BB962C8B-B14F-4D97-AF65-F5344CB8AC3E}">
        <p14:creationId xmlns:p14="http://schemas.microsoft.com/office/powerpoint/2010/main" val="177165801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4178B4-AC5E-48C6-A3D4-96C53A507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2F75B5"/>
                </a:solidFill>
              </a:defRPr>
            </a:pPr>
            <a:r>
              <a:rPr sz="900" b="1">
                <a:solidFill>
                  <a:srgbClr val="2F75B5"/>
                </a:solidFill>
              </a:rPr>
              <a:t>FINANCIAL FORECASTING IMPLICATION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887D15-7CFE-4FFE-9702-E76E53F3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7365D"/>
                </a:solidFill>
              </a:defRPr>
            </a:pPr>
            <a:r>
              <a:rPr sz="2400" b="1">
                <a:solidFill>
                  <a:srgbClr val="17365D"/>
                </a:solidFill>
              </a:rPr>
              <a:t>Release-day model-risk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36EE1F-9C61-4442-B467-5BEF15DB4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163750-5E3A-4541-BA03-8A7A1C6E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3337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5B6573"/>
                </a:solidFill>
              </a:defRPr>
            </a:pPr>
            <a:r>
              <a:rPr sz="825" b="0">
                <a:solidFill>
                  <a:srgbClr val="5B6573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3DF0F7-6F90-4908-915D-989621F3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7365D"/>
                </a:solidFill>
              </a:defRPr>
            </a:pPr>
            <a:r>
              <a:rPr sz="2025" b="1">
                <a:solidFill>
                  <a:srgbClr val="17365D"/>
                </a:solidFill>
              </a:rPr>
              <a:t>The dashboard turns a sentiment gap into a documented decision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98C99D-7590-425E-AF79-97AE68AA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2F75B5"/>
                </a:solidFill>
              </a:defRPr>
            </a:pPr>
            <a:r>
              <a:rPr sz="1800" b="1">
                <a:solidFill>
                  <a:srgbClr val="2F75B5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091FC1-C0B3-46D8-BE61-F99879852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381250"/>
            <a:ext cx="1571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</a:defRPr>
            </a:pPr>
            <a:r>
              <a:rPr sz="1500" b="1">
                <a:solidFill>
                  <a:srgbClr val="17365D"/>
                </a:solidFill>
              </a:rPr>
              <a:t>Detect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F3FF6A-B36A-42BB-8557-32B59ADA5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381250"/>
            <a:ext cx="785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B6573"/>
                </a:solidFill>
              </a:defRPr>
            </a:pPr>
            <a:r>
              <a:rPr sz="1275" b="0">
                <a:solidFill>
                  <a:srgbClr val="5B6573"/>
                </a:solidFill>
              </a:rPr>
              <a:t>Read sentiment, the prediction interval, data releases, and the partial-period status.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B3DF4B-3500-4904-9DDF-71BDB6A3D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9E9C7E-2F73-4492-9416-4AEC5811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2F75B5"/>
                </a:solidFill>
              </a:defRPr>
            </a:pPr>
            <a:r>
              <a:rPr sz="1800" b="1">
                <a:solidFill>
                  <a:srgbClr val="2F75B5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A63716-A23B-4936-AF69-EDFABBCD2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09925"/>
            <a:ext cx="1571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</a:defRPr>
            </a:pPr>
            <a:r>
              <a:rPr sz="1500" b="1">
                <a:solidFill>
                  <a:srgbClr val="17365D"/>
                </a:solidFill>
              </a:rPr>
              <a:t>Diagnose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B5B2E6-39F1-455F-8BAD-AFE702EE0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209925"/>
            <a:ext cx="785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B6573"/>
                </a:solidFill>
              </a:defRPr>
            </a:pPr>
            <a:r>
              <a:rPr sz="1275" b="0">
                <a:solidFill>
                  <a:srgbClr val="5B6573"/>
                </a:solidFill>
              </a:rPr>
              <a:t>Compare forecast versions. Check household controls, data vintages, revisions, and survey comparability.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B77C6F-2650-4A78-9EB6-C928A7F1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95CE86-921D-4ED2-B6F6-1E06E5E74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2F75B5"/>
                </a:solidFill>
              </a:defRPr>
            </a:pPr>
            <a:r>
              <a:rPr sz="1800" b="1">
                <a:solidFill>
                  <a:srgbClr val="2F75B5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AE4FEF-9831-42EF-A2B9-CB4005F88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38600"/>
            <a:ext cx="1571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</a:defRPr>
            </a:pPr>
            <a:r>
              <a:rPr sz="1500" b="1">
                <a:solidFill>
                  <a:srgbClr val="17365D"/>
                </a:solidFill>
              </a:rPr>
              <a:t>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AB1964-166C-4A16-9C33-9AB32E031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038600"/>
            <a:ext cx="785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B6573"/>
                </a:solidFill>
              </a:defRPr>
            </a:pPr>
            <a:r>
              <a:rPr sz="1275" b="0">
                <a:solidFill>
                  <a:srgbClr val="5B6573"/>
                </a:solidFill>
              </a:rPr>
              <a:t>Use validated tone, prominence, framing, fact checks, and source comparisons as context.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C0FDF9-6A51-4C94-927A-5728D3C8A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51094A-41D1-4216-B18F-DB595031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2F75B5"/>
                </a:solidFill>
              </a:defRPr>
            </a:pPr>
            <a:r>
              <a:rPr sz="1800" b="1">
                <a:solidFill>
                  <a:srgbClr val="2F75B5"/>
                </a:solidFill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5C66FF-2AB2-4761-8CE7-10FFD0CD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67275"/>
            <a:ext cx="1571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</a:defRPr>
            </a:pPr>
            <a:r>
              <a:rPr sz="1500" b="1">
                <a:solidFill>
                  <a:srgbClr val="17365D"/>
                </a:solidFill>
              </a:rPr>
              <a:t>Archive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8E91CE-0638-4270-81B1-F9CEA41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867275"/>
            <a:ext cx="785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B6573"/>
                </a:solidFill>
              </a:defRPr>
            </a:pPr>
            <a:r>
              <a:rPr sz="1275" b="0">
                <a:solidFill>
                  <a:srgbClr val="5B6573"/>
                </a:solidFill>
              </a:rPr>
              <a:t>Save inputs, labels, vintages, performance, event logs, and missing data before any forecast decision.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D5AC6E-F254-4E74-A569-C79025FC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936155-3E23-43B1-9F0F-CCA651161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34075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</a:defRPr>
            </a:pPr>
            <a:r>
              <a:rPr sz="1500" b="1">
                <a:solidFill>
                  <a:srgbClr val="17365D"/>
                </a:solidFill>
              </a:rPr>
              <a:t>Practical implication: the workflow can widen uncertainty or keep the forecast unchanged while evidence is incomplete. It should not make automatic forecast changes based on narratives.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92DD07-A065-4843-87AA-35EE1E69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4960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7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675" b="0">
                <a:solidFill>
                  <a:srgbClr val="5B6573"/>
                </a:solidFill>
              </a:defRPr>
            </a:pPr>
            <a:r>
              <a:rPr sz="675" b="0">
                <a:solidFill>
                  <a:srgbClr val="5B6573"/>
                </a:solidFill>
              </a:rPr>
              <a:t>Sources: dashboard/README.md; data/processed/run_summary.json; project documentation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EF27A9-66DF-4F28-AC7F-9D2929C13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96050"/>
            <a:ext cx="2933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7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675" b="0">
                <a:solidFill>
                  <a:srgbClr val="5B6573"/>
                </a:solidFill>
              </a:defRPr>
            </a:pPr>
            <a:r>
              <a:rPr sz="675" b="0">
                <a:solidFill>
                  <a:srgbClr val="5B6573"/>
                </a:solidFill>
              </a:rPr>
              <a:t>NLP &amp; the Investment Process | October 2026</a:t>
            </a:r>
          </a:p>
        </p:txBody>
      </p:sp>
    </p:spTree>
    <p:extLst>
      <p:ext uri="{BB962C8B-B14F-4D97-AF65-F5344CB8AC3E}">
        <p14:creationId xmlns:p14="http://schemas.microsoft.com/office/powerpoint/2010/main" val="17800426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5E75E3-D8D5-423C-BB98-FDC9A566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2F75B5"/>
                </a:solidFill>
              </a:defRPr>
            </a:pPr>
            <a:r>
              <a:rPr sz="900" b="1">
                <a:solidFill>
                  <a:srgbClr val="2F75B5"/>
                </a:solidFill>
              </a:rPr>
              <a:t>SELECTED SOURCES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BD8C03-413D-461F-A2C8-4666D758A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7365D"/>
                </a:solidFill>
              </a:defRPr>
            </a:pPr>
            <a:r>
              <a:rPr sz="2400" b="1">
                <a:solidFill>
                  <a:srgbClr val="17365D"/>
                </a:solidFill>
              </a:rPr>
              <a:t>References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69CA34-F8B8-4C23-8F30-CE83BE4D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A35BEE-C858-4281-B2CD-0BD07453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3337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5B6573"/>
                </a:solidFill>
              </a:defRPr>
            </a:pPr>
            <a:r>
              <a:rPr sz="825" b="0">
                <a:solidFill>
                  <a:srgbClr val="5B6573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854617-DF04-4663-A10A-42842295E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895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B6573"/>
                </a:solidFill>
              </a:defRPr>
            </a:pPr>
            <a:r>
              <a:rPr sz="1500" b="0">
                <a:solidFill>
                  <a:srgbClr val="5B6573"/>
                </a:solidFill>
              </a:rPr>
              <a:t>Full citations and project-artifact references appear in the written report.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0F2DF7-C6EA-4FFC-A32A-EC01B1CE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F75B5"/>
                </a:solidFill>
              </a:defRPr>
            </a:pPr>
            <a:r>
              <a:rPr sz="1200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083C3F-9760-4233-83DA-EB65E6E4E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90750"/>
            <a:ext cx="99250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University of Michigan, Surveys of Consumers: survey description, technical documentation, and methodology transition materials.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7818D4-BD9F-48D5-897C-1D0CCC2CD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3367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F75B5"/>
                </a:solidFill>
              </a:defRPr>
            </a:pPr>
            <a:r>
              <a:rPr sz="1200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F3FBA2-DCF5-4647-B7AA-A8242AFD8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33675"/>
            <a:ext cx="99250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Federal Reserve Bank of St. Louis: ALFRED real-time macroeconomic data and release vintages.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3DA2FC-2FC8-49D0-AD4F-03D73FD2A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F75B5"/>
                </a:solidFill>
              </a:defRPr>
            </a:pPr>
            <a:r>
              <a:rPr sz="1200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7C6EBA-FB26-422B-B113-EF2803CC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76600"/>
            <a:ext cx="99250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U.S. Bureau of Labor Statistics: Current Population Survey labor-force statistics.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26091D-E7FA-4EFF-9E3A-63DDEA845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95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F75B5"/>
                </a:solidFill>
              </a:defRPr>
            </a:pPr>
            <a:r>
              <a:rPr sz="1200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A76245-E890-4CE1-A1E5-FBFA7F7B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19525"/>
            <a:ext cx="99250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U.S. Bureau of Economic Analysis: consumer spending, PCE, income, and GDP data.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5133E8-846E-4BB9-B763-83B846401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F75B5"/>
                </a:solidFill>
              </a:defRPr>
            </a:pPr>
            <a:r>
              <a:rPr sz="1200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865AE9-EB76-423D-A314-6B297DF77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62450"/>
            <a:ext cx="99250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Baker, Bloom, and Davis: Economic Policy Uncertainty methodology and index documentation.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7D7533-A0E9-4705-B7E1-076238F8F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0537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F75B5"/>
                </a:solidFill>
              </a:defRPr>
            </a:pPr>
            <a:r>
              <a:rPr sz="1200" b="1">
                <a:solidFill>
                  <a:srgbClr val="2F75B5"/>
                </a:solidFill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1A5605-DA1A-43ED-BF26-7DD28816E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05375"/>
            <a:ext cx="99250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2033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033"/>
                </a:solidFill>
              </a:defRPr>
            </a:pPr>
            <a:r>
              <a:rPr sz="1200" b="0">
                <a:solidFill>
                  <a:srgbClr val="172033"/>
                </a:solidFill>
              </a:rPr>
              <a:t>Project repository: reproducible notebook, dashboard payload, validation protocol, and causal-design protocol.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818B11-6286-40D9-A2D3-2E88CA602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4960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7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675" b="0">
                <a:solidFill>
                  <a:srgbClr val="5B6573"/>
                </a:solidFill>
              </a:defRPr>
            </a:pPr>
            <a:r>
              <a:rPr sz="675" b="0">
                <a:solidFill>
                  <a:srgbClr val="5B6573"/>
                </a:solidFill>
              </a:rPr>
              <a:t>Full references: AI Economic Perceptions and Consumer Sentiment report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BD91F2-80BF-444B-A1FB-5B408F8D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96050"/>
            <a:ext cx="2933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75" b="0">
                <a:solidFill>
                  <a:srgbClr val="5B6573"/>
                </a:solidFill>
              </a:defRPr>
            </a:defPPr>
          </a:lstStyle>
          <a:p xmlns:a="http://schemas.openxmlformats.org/drawingml/2006/main">
            <a:pPr>
              <a:defRPr sz="675" b="0">
                <a:solidFill>
                  <a:srgbClr val="5B6573"/>
                </a:solidFill>
              </a:defRPr>
            </a:pPr>
            <a:r>
              <a:rPr sz="675" b="0">
                <a:solidFill>
                  <a:srgbClr val="5B6573"/>
                </a:solidFill>
              </a:rPr>
              <a:t>NLP &amp; the Investment Process | October 2026</a:t>
            </a:r>
          </a:p>
        </p:txBody>
      </p:sp>
    </p:spTree>
    <p:extLst>
      <p:ext uri="{BB962C8B-B14F-4D97-AF65-F5344CB8AC3E}">
        <p14:creationId xmlns:p14="http://schemas.microsoft.com/office/powerpoint/2010/main" val="20635094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2026-10-15T21:52:50.6020000Z</dcterms:created>
  <dcterms:modified xsi:type="dcterms:W3CDTF">2026-10-15T21:52:50.6020000Z</dcterms:modified>
</coreProperties>
</file>