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3e75d1748c41a3" /><Relationship Type="http://schemas.openxmlformats.org/officeDocument/2006/relationships/extended-properties" Target="/docProps/app.xml" Id="Raf2689d93e8f4129" /><Relationship Type="http://schemas.openxmlformats.org/officeDocument/2006/relationships/officeDocument" Target="/ppt/presentation.xml" Id="Redaad762afb644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0c2c430f6b441f"/>
  </p:sldMasterIdLst>
  <p:notesMasterIdLst>
    <p:notesMasterId xmlns:r="http://schemas.openxmlformats.org/officeDocument/2006/relationships" r:id="R7433d5d3874b448d"/>
  </p:notesMasterIdLst>
  <p:sldIdLst>
    <p:sldId xmlns:r="http://schemas.openxmlformats.org/officeDocument/2006/relationships" id="256" r:id="R004238a9516f4b6e"/>
    <p:sldId xmlns:r="http://schemas.openxmlformats.org/officeDocument/2006/relationships" id="257" r:id="Rb8cacc16100242b8"/>
    <p:sldId xmlns:r="http://schemas.openxmlformats.org/officeDocument/2006/relationships" id="258" r:id="Rde9384f56ed54d3b"/>
    <p:sldId xmlns:r="http://schemas.openxmlformats.org/officeDocument/2006/relationships" id="259" r:id="R909d4bf57c644ec0"/>
    <p:sldId xmlns:r="http://schemas.openxmlformats.org/officeDocument/2006/relationships" id="260" r:id="R02c1df129e924430"/>
    <p:sldId xmlns:r="http://schemas.openxmlformats.org/officeDocument/2006/relationships" id="261" r:id="Rc85baf502a164f14"/>
    <p:sldId xmlns:r="http://schemas.openxmlformats.org/officeDocument/2006/relationships" id="262" r:id="R3e728a2115f241fa"/>
    <p:sldId xmlns:r="http://schemas.openxmlformats.org/officeDocument/2006/relationships" id="263" r:id="R550117d0ae7840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cd5bf9919243a6" /><Relationship Type="http://schemas.openxmlformats.org/officeDocument/2006/relationships/slideMaster" Target="/ppt/slideMasters/slideMaster1.xml" Id="R6b0c2c430f6b441f" /><Relationship Type="http://schemas.openxmlformats.org/officeDocument/2006/relationships/notesMaster" Target="/ppt/notesMasters/notesMaster1.xml" Id="R7433d5d3874b448d" /><Relationship Type="http://schemas.openxmlformats.org/officeDocument/2006/relationships/presProps" Target="/ppt/presProps.xml" Id="Rddf89f843d5548fd" /><Relationship Type="http://schemas.openxmlformats.org/officeDocument/2006/relationships/tableStyles" Target="/ppt/tableStyles.xml" Id="Rec451d903e944350" /><Relationship Type="http://schemas.openxmlformats.org/officeDocument/2006/relationships/slide" Target="/ppt/slides/slide1.xml" Id="R004238a9516f4b6e" /><Relationship Type="http://schemas.openxmlformats.org/officeDocument/2006/relationships/slide" Target="/ppt/slides/slide2.xml" Id="Rb8cacc16100242b8" /><Relationship Type="http://schemas.openxmlformats.org/officeDocument/2006/relationships/slide" Target="/ppt/slides/slide3.xml" Id="Rde9384f56ed54d3b" /><Relationship Type="http://schemas.openxmlformats.org/officeDocument/2006/relationships/slide" Target="/ppt/slides/slide4.xml" Id="R909d4bf57c644ec0" /><Relationship Type="http://schemas.openxmlformats.org/officeDocument/2006/relationships/slide" Target="/ppt/slides/slide5.xml" Id="R02c1df129e924430" /><Relationship Type="http://schemas.openxmlformats.org/officeDocument/2006/relationships/slide" Target="/ppt/slides/slide6.xml" Id="Rc85baf502a164f14" /><Relationship Type="http://schemas.openxmlformats.org/officeDocument/2006/relationships/slide" Target="/ppt/slides/slide7.xml" Id="R3e728a2115f241fa" /><Relationship Type="http://schemas.openxmlformats.org/officeDocument/2006/relationships/slide" Target="/ppt/slides/slide8.xml" Id="R550117d0ae78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df3e3cf0874d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b3a9e00c7341de" /><Relationship Type="http://schemas.openxmlformats.org/officeDocument/2006/relationships/notesMaster" Target="/ppt/notesMasters/notesMaster1.xml" Id="R6a4b037abc7d4a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d0a6b184ba4a24" /><Relationship Type="http://schemas.openxmlformats.org/officeDocument/2006/relationships/notesMaster" Target="/ppt/notesMasters/notesMaster1.xml" Id="Rdb469ecaa1dd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0920c12d7f4f36" /><Relationship Type="http://schemas.openxmlformats.org/officeDocument/2006/relationships/notesMaster" Target="/ppt/notesMasters/notesMaster1.xml" Id="Refba5b9f704647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97c19a02e4d89" /><Relationship Type="http://schemas.openxmlformats.org/officeDocument/2006/relationships/notesMaster" Target="/ppt/notesMasters/notesMaster1.xml" Id="Rb5060622ef7045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74729f64b84537" /><Relationship Type="http://schemas.openxmlformats.org/officeDocument/2006/relationships/notesMaster" Target="/ppt/notesMasters/notesMaster1.xml" Id="R3b4d18d2c6c641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2ca53c47b04803" /><Relationship Type="http://schemas.openxmlformats.org/officeDocument/2006/relationships/notesMaster" Target="/ppt/notesMasters/notesMaster1.xml" Id="Rb53abc8527ca4e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7166f607624f9b" /><Relationship Type="http://schemas.openxmlformats.org/officeDocument/2006/relationships/notesMaster" Target="/ppt/notesMasters/notesMaster1.xml" Id="R8bfa9294248b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37aa6a708b4c19" /><Relationship Type="http://schemas.openxmlformats.org/officeDocument/2006/relationships/notesMaster" Target="/ppt/notesMasters/notesMaster1.xml" Id="Rf53496d2dc9543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problem. The presentation follows the analyst’s workflow from an observed sentiment gap to a documented forecast or risk-management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repository outputs and documentation as cited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begins the narrative. A gap should direct the analyst toward competing explanations rather than directly changing a forecast or labeling consumer views irrational.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repository outputs and documentation as cited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workflow establishes what was knowable at the decision date. That prevents later data revisions or unvalidated text labels from being mistaken for contemporaneous forecasting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repository outputs and documentation as cited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data can support diagnostic review only after validation. Moderate human agreement requires documented adjudication and transparent uncertainty, rather than treating machine labels as a second independent rater.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repository outputs and documentation as cited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forecasting result. Broader household-relevant controls improve the baseline, while historical media tone does not improve common-sample MAE. The supplementary extension is deliberately narrow and does not create a causal household-distress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repository outputs and documentation as cited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historical association is useful for triage because it identifies a repeatable relationship. The future-media placebo is only a timing diagnostic. It does not establish causality because several unobserved pathways remain plausible.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repository outputs and documentation as cited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delivers the practical implication. The risk manager may use narrative measures as a governed overlay that triggers review, preserves uncertainty, and requests corroborating information before any forecast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repository outputs and documentation as cited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practical implication. The contribution is a repeatable model-risk process that makes uncertainty, data timing, and measurement limits visible before a forecast or risk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repository outputs and documentation as cited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224c4bb3e45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06fceace244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3fb95f5814d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a43b130ea43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f23f3b7e547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ddf5debca4a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F3AB65-6163-4325-A38C-847108BC5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3E1888-E481-4C64-8235-5608CD0536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26B94D-F897-4C34-9ABC-9B613A69BC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2360F9-7E02-45C3-BF67-427D67BE6F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165402-10BC-4547-86C9-A81CACC627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CCF7DE-AD4B-4D35-83E8-F33EE86E0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47EA68-282D-4AFD-B1EE-72951692D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0A0FB8-6567-466C-B87D-E78D531FEA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09E97F-B9E3-4D4A-8BBB-7301A31E8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CFDE19-E163-4517-9B68-3756FD3825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79837e9d2f496c" /><Relationship Type="http://schemas.openxmlformats.org/officeDocument/2006/relationships/slideLayout" Target="/ppt/slideLayouts/slideLayout1.xml" Id="Re3178508e47c4739" /><Relationship Type="http://schemas.openxmlformats.org/officeDocument/2006/relationships/slideLayout" Target="/ppt/slideLayouts/slideLayout2.xml" Id="R23355d5aed4f4c9d" /><Relationship Type="http://schemas.openxmlformats.org/officeDocument/2006/relationships/slideLayout" Target="/ppt/slideLayouts/slideLayout3.xml" Id="R676517e8799743ad" /><Relationship Type="http://schemas.openxmlformats.org/officeDocument/2006/relationships/slideLayout" Target="/ppt/slideLayouts/slideLayout4.xml" Id="R0d877024a46d4628" /><Relationship Type="http://schemas.openxmlformats.org/officeDocument/2006/relationships/slideLayout" Target="/ppt/slideLayouts/slideLayout5.xml" Id="Re612f3c11ff4473e" /><Relationship Type="http://schemas.openxmlformats.org/officeDocument/2006/relationships/slideLayout" Target="/ppt/slideLayouts/slideLayout6.xml" Id="Rd4e42c000cb74c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178508e47c4739"/>
    <p:sldLayoutId xmlns:r="http://schemas.openxmlformats.org/officeDocument/2006/relationships" id="2147483650" r:id="R23355d5aed4f4c9d"/>
    <p:sldLayoutId xmlns:r="http://schemas.openxmlformats.org/officeDocument/2006/relationships" id="2147483651" r:id="R676517e8799743ad"/>
    <p:sldLayoutId xmlns:r="http://schemas.openxmlformats.org/officeDocument/2006/relationships" id="2147483652" r:id="R0d877024a46d4628"/>
    <p:sldLayoutId xmlns:r="http://schemas.openxmlformats.org/officeDocument/2006/relationships" id="2147483653" r:id="Re612f3c11ff4473e"/>
    <p:sldLayoutId xmlns:r="http://schemas.openxmlformats.org/officeDocument/2006/relationships" id="2147483654" r:id="Rd4e42c000cb74c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1d06754084fcd" /><Relationship Type="http://schemas.openxmlformats.org/officeDocument/2006/relationships/notesSlide" Target="/ppt/notesSlides/notesSlide1.xml" Id="R27446c9694784f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2b2180a9e4f23" /><Relationship Type="http://schemas.openxmlformats.org/officeDocument/2006/relationships/notesSlide" Target="/ppt/notesSlides/notesSlide2.xml" Id="R21f7633610024d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f851c5f4945ee" /><Relationship Type="http://schemas.openxmlformats.org/officeDocument/2006/relationships/notesSlide" Target="/ppt/notesSlides/notesSlide3.xml" Id="Rbf16da7ab82b44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8948747724f6a" /><Relationship Type="http://schemas.openxmlformats.org/officeDocument/2006/relationships/notesSlide" Target="/ppt/notesSlides/notesSlide4.xml" Id="R52ac23c242db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33e945cb647d0" /><Relationship Type="http://schemas.openxmlformats.org/officeDocument/2006/relationships/chart" Target="/ppt/slides/charts/chart1.xml" Id="R67461a05d1764a33" /><Relationship Type="http://schemas.openxmlformats.org/officeDocument/2006/relationships/notesSlide" Target="/ppt/notesSlides/notesSlide5.xml" Id="Rcc753b3fccec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46807420243bf" /><Relationship Type="http://schemas.openxmlformats.org/officeDocument/2006/relationships/chart" Target="/ppt/slides/charts/chart2.xml" Id="Rad93c922bd1040a6" /><Relationship Type="http://schemas.openxmlformats.org/officeDocument/2006/relationships/notesSlide" Target="/ppt/notesSlides/notesSlide6.xml" Id="Rc186e0de635244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627c07ac84413" /><Relationship Type="http://schemas.openxmlformats.org/officeDocument/2006/relationships/notesSlide" Target="/ppt/notesSlides/notesSlide7.xml" Id="Re5d45ed3bbf843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3fc4380ea4721" /><Relationship Type="http://schemas.openxmlformats.org/officeDocument/2006/relationships/notesSlide" Target="/ppt/notesSlides/notesSlide8.xml" Id="R5851156024d0475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F75B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Economic only</c:v>
                </c:pt>
                <c:pt idx="1">
                  <c:v>Household-stress proxy</c:v>
                </c:pt>
                <c:pt idx="2">
                  <c:v>Expanded controls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12.579</c:v>
                </c:pt>
                <c:pt idx="1">
                  <c:v>8.178</c:v>
                </c:pt>
                <c:pt idx="2">
                  <c:v>4.467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Association</c:v>
          </c:tx>
          <c:spPr>
            <a:solidFill xmlns:a="http://schemas.openxmlformats.org/drawingml/2006/main">
              <a:srgbClr val="C0504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Headline sentiment</c:v>
                </c:pt>
                <c:pt idx="1">
                  <c:v>Current conditions</c:v>
                </c:pt>
                <c:pt idx="2">
                  <c:v>Expectations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-8.09</c:v>
                </c:pt>
                <c:pt idx="1">
                  <c:v>-8.44</c:v>
                </c:pt>
                <c:pt idx="2">
                  <c:v>-7.31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6DB2B-792D-4892-B7A5-ACF21EAF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141BD-AFB3-4DAB-966D-148EB522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75B5"/>
                </a:solidFill>
              </a:defRPr>
            </a:pPr>
            <a:r>
              <a:rPr sz="825" b="1">
                <a:solidFill>
                  <a:srgbClr val="2F75B5"/>
                </a:solidFill>
              </a:rPr>
              <a:t>FINAL PROJECT | NATURAL LANGUAGE PROCESSING (NLP) &amp; THE INVESTMENT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BFAC8-2118-4DA8-B7A7-AC60052D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7365D"/>
                </a:solidFill>
              </a:defRPr>
            </a:pPr>
            <a:r>
              <a:rPr sz="3375" b="1">
                <a:solidFill>
                  <a:srgbClr val="17365D"/>
                </a:solidFill>
              </a:rPr>
              <a:t>When consumer sentiment</a:t>
            </a:r>
          </a:p>
          <a:p xmlns:a="http://schemas.openxmlformats.org/drawingml/2006/main">
            <a:pPr>
              <a:defRPr sz="3375" b="1">
                <a:solidFill>
                  <a:srgbClr val="17365D"/>
                </a:solidFill>
              </a:defRPr>
            </a:pPr>
            <a:r>
              <a:rPr sz="3375" b="1">
                <a:solidFill>
                  <a:srgbClr val="17365D"/>
                </a:solidFill>
              </a:rPr>
              <a:t>diverges from macro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6DE3B-6F0B-4D02-9F83-0EDB0DE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6573"/>
                </a:solidFill>
              </a:defRPr>
            </a:pPr>
            <a:r>
              <a:rPr sz="1800" b="0">
                <a:solidFill>
                  <a:srgbClr val="5B6573"/>
                </a:solidFill>
              </a:rPr>
              <a:t>A model-risk framework for consumer-sensitive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3714A-86E0-4008-843C-1E1A539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B6AB5-0EBD-457A-B679-BD8B90A0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Research report and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BB1D7-2297-4CD5-8ADD-56531EA5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Analysis cutoff: October 14,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84735-28D3-4BA0-B311-C81F08D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Practical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E555E-7467-4E96-B595-EB649CBD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28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Should weak consumer sentiment change a forecast, or should it first change the analyst’s uncertainty assessment?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5FC7C-016A-42AC-9B58-BB95B446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The evidence supports a governed review process before any forecast or risk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945AF-D853-40BC-9761-A11055CB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Based on current implementation and course brief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C0C07-9A6A-4C29-915E-D8459BC7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960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NLP &amp; the Investment Process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76206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11CF2-DDB3-466C-AE45-1F6E4564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THE DECISION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AB3FA-7905-4D99-9227-4583F753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65D"/>
                </a:solidFill>
              </a:defRPr>
            </a:pPr>
            <a:r>
              <a:rPr sz="2400" b="1">
                <a:solidFill>
                  <a:srgbClr val="17365D"/>
                </a:solidFill>
              </a:rPr>
              <a:t>A sentiment gap starts a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10A40-00A5-474C-BF0D-047CC8AC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947E4-0A3C-4721-A14B-DF139B7F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3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39B54-0349-420B-83A5-24BD7099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Before changing a forecast, an analyst needs to consider three explanations.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B6A9C-BBEE-4FA5-A8F7-2EDFE9A2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B8223-57E8-449F-91F8-1FFB43EF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F75B5"/>
                </a:solidFill>
              </a:defRPr>
            </a:pPr>
            <a:r>
              <a:rPr sz="1950" b="1">
                <a:solidFill>
                  <a:srgbClr val="2F75B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795AD-2D9E-474E-A45D-E7E1B40E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Household pressures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72D96-C9CA-4E44-BDB6-E26124FA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Broader unemployment, prices, debt, income, housing costs, and uncertainty can differ from headline growth.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F2AA4-2849-476E-AF93-E3A0F5DB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A1BF4-2726-4894-8975-8A24827A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812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F75B5"/>
                </a:solidFill>
              </a:defRPr>
            </a:pPr>
            <a:r>
              <a:rPr sz="1950" b="1">
                <a:solidFill>
                  <a:srgbClr val="2F75B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246AA-FFC4-4878-B0E9-C05E8B07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384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Narratives and framing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D47C7-14F3-41BC-9639-E4D2018E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4807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We can measure tone and framing in content. Text cannot show exposure or belief.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A0A40-09D7-438D-841F-5B29F920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812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36E6A-E113-4963-90DA-4A28CCD3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812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F75B5"/>
                </a:solidFill>
              </a:defRPr>
            </a:pPr>
            <a:r>
              <a:rPr sz="1950" b="1">
                <a:solidFill>
                  <a:srgbClr val="2F75B5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8BB35-D30F-46CE-B2ED-52C69E18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384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Timing and model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DD9E7-7E25-4CF9-869A-A332B53F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4807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Release timing, revisions, survey changes, and a short sample can create an apparent gap.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81C57-2FBA-4805-8EF2-171702EF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65D"/>
                </a:solidFill>
              </a:defRPr>
            </a:pPr>
            <a:r>
              <a:rPr sz="1575" b="1">
                <a:solidFill>
                  <a:srgbClr val="17365D"/>
                </a:solidFill>
              </a:rPr>
              <a:t>When sentiment is below the model prediction, the gap signals uncertainty. The review may revise the forecast, widen its range, or take no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090A1-4FDD-4053-9D43-05A94955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Source: Final Project Applications in Finance brief; project README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152DF-A783-4799-B853-FE55F97E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960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NLP &amp; the Investment Process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37442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379D0-4C1B-4579-B165-701D8B5A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ESTABLISH THE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AEE7D-2385-4ACB-A316-7E592029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65D"/>
                </a:solidFill>
              </a:defRPr>
            </a:pPr>
            <a:r>
              <a:rPr sz="2400" b="1">
                <a:solidFill>
                  <a:srgbClr val="17365D"/>
                </a:solidFill>
              </a:rPr>
              <a:t>The baseline uses information available on the decision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27021-69D9-4DCA-B0F0-575F8B24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4C6DF-7B63-4A89-8747-A2C65EC7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3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40D42-0E45-426C-9C77-A8A6A943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7365D"/>
                </a:solidFill>
              </a:defRPr>
            </a:pPr>
            <a:r>
              <a:rPr sz="975" b="1">
                <a:solidFill>
                  <a:srgbClr val="17365D"/>
                </a:solidFill>
              </a:rPr>
              <a:t>Interpretation: a forecast should be tested against the information available when the decision was made, not against later revisions.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88CED-79EE-4451-892F-3536B5AE6020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724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4476750"/>
                <a:gridCol w="4533900"/>
              </a:tblGrid>
              <a:tr h="54483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Interpretation boundary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Economic 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Michigan sentiment; U-3 unemployment; Personal Consumption Expenditures (PCE) inflation; quarterly real gross domestic product (GDP) growth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Forecasts use only data available at the decision date. GDP remains quarterly.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Broader controls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U-6 underemployment, real income, price growth, debt service, housing affordability, policy uncertainty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Tests whether headline indicators miss household pressures.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Media corpus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16 national/local publishers plus public Mastodon supplement; documented queries, duplicates, and flags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Content supply does not show engagement or respondent exposure.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Measurement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Tone, prominence, framing, fact checks, political attribution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Negative language is not automatically bias.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CCEE1-D017-41BF-BD4E-3267A8A6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Narrative measures enter review only after a quality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B9622-01D3-4C37-BE38-7A5DCC4C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F75B5"/>
                </a:solidFill>
              </a:defRPr>
            </a:pPr>
            <a:r>
              <a:rPr sz="1275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58D19-A3AC-4258-8CFE-0065DE80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935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Two independent, source-blinded reviewers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2AD32-EC27-4849-9AFC-D8DD99BF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F75B5"/>
                </a:solidFill>
              </a:defRPr>
            </a:pPr>
            <a:r>
              <a:rPr sz="1275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B8D3F-1735-407B-8DD1-8F98EF69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935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312 paired human tone labels, then a final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0382E-F527-4279-B828-A3D5C343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F75B5"/>
                </a:solidFill>
              </a:defRPr>
            </a:pPr>
            <a:r>
              <a:rPr sz="1275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6505D-B28B-42B2-AE54-450EA31A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935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Dictionary and classifier checks kept for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2295D-2580-4695-9D74-D29624EC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Sources: data/README.md; data/corpus/README.md; docs/ai_measurement_validation.md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577CB-D11C-428E-8BD3-54B6F134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960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NLP &amp; the Investment Process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98768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3049F6-1911-4EA3-94BA-3F41D860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ASSESS MEASUREMENT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CCFE1-F84A-40F7-AC54-A186C5F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65D"/>
                </a:solidFill>
              </a:defRPr>
            </a:pPr>
            <a:r>
              <a:rPr sz="2400" b="1">
                <a:solidFill>
                  <a:srgbClr val="17365D"/>
                </a:solidFill>
              </a:rPr>
              <a:t>Validated narrative measures can support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87F30-697B-4CD0-966E-6C534D60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1E63A-EF13-4B98-AB96-84956FDA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3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2F0D3-17D3-4F7B-AD3A-DC9D791D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65D"/>
                </a:solidFill>
              </a:defRPr>
            </a:pPr>
            <a:r>
              <a:rPr sz="1050" b="1">
                <a:solidFill>
                  <a:srgbClr val="17365D"/>
                </a:solidFill>
              </a:rPr>
              <a:t>Interpretation: agreement is moderate. Use these labels as checked evidence for review, not as automatic decision signals.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5B3FE-4D64-4924-9D0D-DE2B7630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Tone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DD05E-BB5F-454C-B22A-6FE873C3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305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D1C1E-E717-4C22-8A83-ED169576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312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EDC3E-1EBF-439F-AD4C-7F2A70BC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paired independent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CD9E2-E273-473F-A298-AEA2A0B1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76450"/>
            <a:ext cx="2305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819A3-C008-4DF8-96C1-691342EB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86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59.3%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28C7E-D6AE-447F-A296-566868CC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71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raw tone agreement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67AD4-6DD3-44BF-9D02-F3D69142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305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3B818-E44F-4F93-A354-D6CF9505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0.437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8F0D6-0F77-447E-AFA9-453C80C6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71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Cohen kappa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C242D-8E10-46DC-93D9-C15B97A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76450"/>
            <a:ext cx="2305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99AC5-8CE1-4679-9329-058380A4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86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9A394-7809-4242-BDD7-DFD556A3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71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machine labels in agreement stats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493C6-17B2-4483-9271-4BE7630A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Audit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B32FB-5EC4-4185-B61F-79100010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06E38-0241-4A02-8C8C-E29C7FCC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Item IDs, saved text, source details, and timing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6500F-ECC1-432A-83A5-FF3CEAF0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02DAA-787F-49FC-97C9-EEE4BD42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Independent votes, final decisions, and evidence excerpts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2CF6FC-BA73-40A9-84CB-4BEFC8AF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5D526-A116-473F-A07B-C8AB5C21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Model and prompt records, plus source and actor masking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06DB3-2C25-401E-864F-C35B95E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909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050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0504D"/>
                </a:solidFill>
              </a:defRPr>
            </a:pPr>
            <a:r>
              <a:rPr sz="1200" b="1">
                <a:solidFill>
                  <a:srgbClr val="C0504D"/>
                </a:solidFill>
              </a:rPr>
              <a:t>What the measures cannot show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8EAE3-DD2B-4A39-A3F9-F4E98ED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71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521B4-633A-4A04-BA72-A2A84D35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7195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 dictionary does not validate a large language model (LLM)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DE128A-0AFE-4D8E-AC64-983F457F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29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0F6E2A-9AB0-4F35-8E91-6B64160E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62915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 text label does not show who saw the content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61BF6-67D6-4095-B2FE-DD498E41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86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C57951-B6FE-4625-881D-86CF1D37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08635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 measured frame does not show an individual belief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13F75A-DD3B-41C5-BE36-72438E8E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Sources: data/processed/run_summary.json; docs/human_labeling_guide.md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A77617-C531-4725-85A9-E4423605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960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NLP &amp; the Investment Process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470487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EEE6F-8658-4394-86AB-2D7466E6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TEST COMPETING EXPLANATIONS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5FA3B-07B0-4ABE-8FFD-94621E74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65D"/>
                </a:solidFill>
              </a:defRPr>
            </a:pPr>
            <a:r>
              <a:rPr sz="2400" b="1">
                <a:solidFill>
                  <a:srgbClr val="17365D"/>
                </a:solidFill>
              </a:rPr>
              <a:t>Broader household measures improve the forecast; media does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3B142-B4C7-460D-8434-7D5F3FCE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E1DD0-9F78-44C7-B387-5A291990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3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CC866-F18A-49D3-9BD6-38C390A6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Out-of-sample mean absolute error (MAE): lower is better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84CB2-A0A9-4001-BFA9-326178CA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Supplementary extension: 12-month U-3 change plus a recession signal when GDP is negative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FC50898-2444-47EF-A24D-C6B7E1838DA3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58102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461a05d1764a3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B5477-DB58-4769-9F59-88B32597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Historical media test</a:t>
            </a:r>
          </a:p>
          <a:p xmlns:a="http://schemas.openxmlformats.org/drawingml/2006/main">
            <a:pPr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Mean absolute error (MAE), root mean squared error (RMSE)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4BFE3-AB46-4412-BA50-D39A1F8081DA}"/>
              </a:ext>
            </a:extLst>
          </p:cNvPr>
          <p:cNvGraphicFramePr/>
          <p:nvPr/>
        </p:nvGraphicFramePr>
        <p:xfrm>
          <a:off xmlns:a="http://schemas.openxmlformats.org/drawingml/2006/main" x="7239000" y="2000250"/>
          <a:ext xmlns:a="http://schemas.openxmlformats.org/drawingml/2006/main" cx="40005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762000"/>
                <a:gridCol w="904875"/>
              </a:tblGrid>
              <a:tr h="50006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Specification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Economic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5.93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10.63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+ one-month media tone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6.04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9.84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+ media + archived controls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7.92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18.61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925B7-A806-4B7E-88B2-AFA3DF9A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Additional notebook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B2788-557A-46E5-A0C8-E0C59B27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Month-end data: MAE 12.58, RMSE 16.46. Same result as the baseline.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1F0A5-893E-44CE-9A44-FF0DB5DF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91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Lagged sentiment: MAE 3.45, RMSE 4.59. This checks persistence only.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EBD14-152E-472B-9271-04BFDF59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054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65D"/>
                </a:solidFill>
              </a:defRPr>
            </a:pPr>
            <a:r>
              <a:rPr sz="1050" b="1">
                <a:solidFill>
                  <a:srgbClr val="17365D"/>
                </a:solidFill>
              </a:rPr>
              <a:t>Mean absolute error falls 35% with the household proxy and 64% with expanded controls. This points to missing household information, not a proven cause.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99BD2-37FF-4951-800B-F51F09DD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Sources: run_summary.json, month_end_vintage_macro_oos.csv, media_model_status.json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E6E7D-D4D1-4A08-BD9F-A4AEF233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960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NLP &amp; the Investment Process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78162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15A4D-D0C9-4D16-9158-45BFA0C7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SET THE CAUSAL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A9C38-101C-45BE-9A0A-F54DC1C5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65D"/>
                </a:solidFill>
              </a:defRPr>
            </a:pPr>
            <a:r>
              <a:rPr sz="2400" b="1">
                <a:solidFill>
                  <a:srgbClr val="17365D"/>
                </a:solidFill>
              </a:rPr>
              <a:t>Media helps prioritize research, not change a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41D4D-76EF-4AA0-87B1-847C12B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7995D-D376-4E58-92D6-51E500F3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3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E61BC-37A6-40FF-870A-66840588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Estimated change after a 10-point rise in prior-month negative tone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4B68A30-1D03-4879-AEC0-6697DDEB4F8F}"/>
              </a:ext>
            </a:extLst>
          </p:cNvPr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60007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93c922bd1040a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21273-B806-4BEC-9670-475179B8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Why this is not a causal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576AC-564A-446E-A5BA-61389D1C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84AC4-8D8D-4AE3-9278-0DA2A9CA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47875"/>
            <a:ext cx="3638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2014-2021 archive with 89 matched months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BD68F-D4BD-447E-A96F-F144299B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146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0D8E6-9085-491D-A608-4E02FFED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14600"/>
            <a:ext cx="3638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Controls: prior sentiment, U-3, PCE, GDP, and seasonality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117F2-82DB-4483-B9D5-4B29D8B6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813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D5096-BD37-48AB-90C6-2A886645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81325"/>
            <a:ext cx="3638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Newey-West standard errors with six lags (HAC(6)); future-media placebo p-values: 0.543, 0.995, 0.529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4B79B-7368-4A24-86A8-3BD5932A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7FB35-2534-45FE-8AB9-B3D31A1C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3638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No data on exposure and no outside treatment variation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D7E45-E97E-46DA-A2A3-CF4DA244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Similar results across all three measures suggest broad co-movement. Without exposure data, the pattern cannot identify media as the cause.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7038C-E564-405E-BF77-28F902E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Source: data/processed/causal_association_results.csv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9C5C1-B980-49F5-91BB-1AF59AA4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960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NLP &amp; the Investment Process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97683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AD07F-CE34-4268-9710-EF307AD8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TRANSLATE EVIDENCE INTO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30FE6-9CC5-4B64-9607-8959A5E0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65D"/>
                </a:solidFill>
              </a:defRPr>
            </a:pPr>
            <a:r>
              <a:rPr sz="2400" b="1">
                <a:solidFill>
                  <a:srgbClr val="17365D"/>
                </a:solidFill>
              </a:rPr>
              <a:t>A governed narrative-risk forecast overlay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FB958-D0B6-4C15-9287-F237C3FC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76241-F2DC-4911-AAB4-C4FE9AC1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3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8E7BA-5DDF-4069-883C-BC6D07CC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F75B5"/>
                </a:solidFill>
              </a:defRPr>
            </a:pPr>
            <a:r>
              <a:rPr sz="1275" b="1">
                <a:solidFill>
                  <a:srgbClr val="2F75B5"/>
                </a:solidFill>
              </a:rPr>
              <a:t>Evidence that can inform analyst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56D95-64D2-4BC1-96DE-FECDC02C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74E46-C0AB-445D-B852-842B8A7F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Economic baseline that respects data timing and tracks the sentiment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85164-A24D-47CF-8B54-70FB7EB0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42A23-6169-42CF-B13E-74B1A500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Audited media workflow with reported missing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5F1EF-D5F9-45C9-BDC5-77BDD8D4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7B96B-8BCF-40F2-8AF8-DF6B101B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Source-content comparisons and historical associations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857D5-354D-4CC1-A688-ACA1070A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19540-F3EF-47C9-98E3-8033643F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 planned experiment for stronger future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24059-0519-4F3F-A010-4A8BAFF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0504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0504D"/>
                </a:solidFill>
              </a:defRPr>
            </a:pPr>
            <a:r>
              <a:rPr sz="1275" b="1">
                <a:solidFill>
                  <a:srgbClr val="C0504D"/>
                </a:solidFill>
              </a:rPr>
              <a:t>Claims the evidence does not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8F8F4-8551-4141-8494-B6FB7C21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E529D-C445-4CFF-B21D-551F68C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Negative coverage is biased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E14CB-40B5-4900-9C4A-71FA2C71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FE438-53BF-4AEE-8710-C10A7269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08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Respondents saw, remembered, or believed the sampled content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1F711-8A70-4CE5-A9C3-5D10EDA6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D3837-EADD-431F-82BA-FD43903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861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Media tone caused national Michigan sentiment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0F5A7-9C34-4241-9EFE-1947A46A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</a:defRPr>
            </a:pPr>
            <a:r>
              <a:rPr sz="1350" b="1">
                <a:solidFill>
                  <a:srgbClr val="2F75B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3213A-197D-43C3-A26E-675031C0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814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Campaign timing caused a change in sentiment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639F47-A235-4861-A851-EF2911E9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CF3608-ECB8-4708-9FE2-3E16B806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65D"/>
                </a:solidFill>
              </a:defRPr>
            </a:pPr>
            <a:r>
              <a:rPr sz="1575" b="1">
                <a:solidFill>
                  <a:srgbClr val="17365D"/>
                </a:solidFill>
              </a:rPr>
              <a:t>Decision rule: start a review, keep uncertainty visible, and seek more evidence. Change a forecast because of media only with exposure evidence or a credible study design.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F5C52-7F51-4CA9-9A24-E8B78CA6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Sources: course brief; docs/causal_design_protocol.md; project README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77759E-57FC-4B61-BA23-FA75E539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960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NLP &amp; the Investment Process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45416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A34FC-4F85-4941-A459-E14C251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FINANCIAL FORECASTING IMPLICATION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38399-3BC2-485A-874E-537F4B98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65D"/>
                </a:solidFill>
              </a:defRPr>
            </a:pPr>
            <a:r>
              <a:rPr sz="2400" b="1">
                <a:solidFill>
                  <a:srgbClr val="17365D"/>
                </a:solidFill>
              </a:rPr>
              <a:t>Release-day model-risk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F8A3A-186F-4AF9-806E-6D278DEA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94BA0-2534-4902-B61E-36C1B5CA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3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8B1D6-818C-4FB9-AD76-9AA54FEC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The dashboard turns a sentiment gap into a documented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45873-4690-4FEE-8159-054A5BBB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75B5"/>
                </a:solidFill>
              </a:defRPr>
            </a:pPr>
            <a:r>
              <a:rPr sz="1800" b="1">
                <a:solidFill>
                  <a:srgbClr val="2F75B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5AC54-4B89-4F03-A16F-78885E24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Detect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DEB10-7C8D-44A5-A59B-6DF3B5E8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Read sentiment, the prediction interval, data releases, and the partial-period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ECD53-1C8D-4F11-BB63-FB66EC7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BC472-6BB8-4978-BD41-0F72E9CB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75B5"/>
                </a:solidFill>
              </a:defRPr>
            </a:pPr>
            <a:r>
              <a:rPr sz="1800" b="1">
                <a:solidFill>
                  <a:srgbClr val="2F75B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3152E-E43D-4C47-BE85-4A58C98B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99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Diagnose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05BE0-FB7B-436F-BFE5-D380C63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992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Compare forecast versions. Check household controls, data vintages, revisions, and survey comparability.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819CC-3D14-444F-8353-2B740222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A6AFC-1583-4E85-8EF2-88622268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75B5"/>
                </a:solidFill>
              </a:defRPr>
            </a:pPr>
            <a:r>
              <a:rPr sz="1800" b="1">
                <a:solidFill>
                  <a:srgbClr val="2F75B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C2B33-E9AA-4406-9060-1970C222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3238F-0E54-400B-ACBF-A6F30C95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3860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Use validated tone, prominence, framing, fact checks, and source comparisons as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7A328-3667-4803-8F50-04DE8E6A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66210-FF7E-4DFF-A084-62B4CA90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75B5"/>
                </a:solidFill>
              </a:defRPr>
            </a:pPr>
            <a:r>
              <a:rPr sz="1800" b="1">
                <a:solidFill>
                  <a:srgbClr val="2F75B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B0290-0C33-4E99-80A8-CD22174A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672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Archive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36D6D-2A2B-43F9-9BF1-0D85FD78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672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Save inputs, labels, vintages, performance, event logs, and missing data before any forecast decision.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8F45C-28E9-44CE-8FD7-D5DEFA54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095B6-7B21-45E5-B8DE-C995818F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Practical implication: the workflow can widen uncertainty or keep the forecast unchanged while evidence is incomplete. It should not make automatic forecast changes based on narratives.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E4939-D05B-4EE9-9FA0-88F2E59F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Sources: dashboard/README.md; data/processed/run_summary.json; project documentation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2B671-345E-4F88-A238-A59FC750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960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5B6573"/>
                </a:solidFill>
              </a:defRPr>
            </a:pPr>
            <a:r>
              <a:rPr sz="675" b="0">
                <a:solidFill>
                  <a:srgbClr val="5B6573"/>
                </a:solidFill>
              </a:rPr>
              <a:t>NLP &amp; the Investment Process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565388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2026-10-14T22:10:51.4960000Z</dcterms:created>
  <dcterms:modified xsi:type="dcterms:W3CDTF">2026-10-14T22:10:51.4960000Z</dcterms:modified>
</coreProperties>
</file>